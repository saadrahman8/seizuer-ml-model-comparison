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A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9.xml"/><Relationship Id="rId17" Type="http://schemas.openxmlformats.org/officeDocument/2006/relationships/slideLayout" Target="../slideLayouts/slideLayout1.xml"/><Relationship Id="rId16" Type="http://schemas.openxmlformats.org/officeDocument/2006/relationships/image" Target="../media/image2.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A32"/>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58B9DA"/>
          </a:solidFill>
          <a:ln w="12700">
            <a:solidFill>
              <a:srgbClr val="58B9DA"/>
            </a:solidFill>
            <a:prstDash val="solid"/>
          </a:ln>
        </p:spPr>
      </p:sp>
      <p:sp>
        <p:nvSpPr>
          <p:cNvPr id="3" name="Shape 1"/>
          <p:cNvSpPr/>
          <p:nvPr/>
        </p:nvSpPr>
        <p:spPr>
          <a:xfrm>
            <a:off x="6858000" y="4114800"/>
            <a:ext cx="2286000" cy="1028700"/>
          </a:xfrm>
          <a:prstGeom prst="rect">
            <a:avLst/>
          </a:prstGeom>
          <a:solidFill>
            <a:srgbClr val="8DAC28"/>
          </a:solidFill>
          <a:ln w="12700">
            <a:solidFill>
              <a:srgbClr val="8DAC28"/>
            </a:solidFill>
            <a:prstDash val="solid"/>
          </a:ln>
        </p:spPr>
      </p:sp>
      <p:sp>
        <p:nvSpPr>
          <p:cNvPr id="4" name="Shape 2"/>
          <p:cNvSpPr/>
          <p:nvPr/>
        </p:nvSpPr>
        <p:spPr>
          <a:xfrm>
            <a:off x="7772400" y="0"/>
            <a:ext cx="1371600" cy="1097280"/>
          </a:xfrm>
          <a:prstGeom prst="rect">
            <a:avLst/>
          </a:prstGeom>
          <a:solidFill>
            <a:srgbClr val="A9B8C3"/>
          </a:solidFill>
          <a:ln w="12700">
            <a:solidFill>
              <a:srgbClr val="A9B8C3"/>
            </a:solidFill>
            <a:prstDash val="solid"/>
          </a:ln>
        </p:spPr>
      </p:sp>
      <p:sp>
        <p:nvSpPr>
          <p:cNvPr id="5" name="Text 3"/>
          <p:cNvSpPr/>
          <p:nvPr/>
        </p:nvSpPr>
        <p:spPr>
          <a:xfrm>
            <a:off x="365760" y="777240"/>
            <a:ext cx="7315200" cy="914400"/>
          </a:xfrm>
          <a:prstGeom prst="rect">
            <a:avLst/>
          </a:prstGeom>
          <a:noFill/>
        </p:spPr>
        <p:txBody>
          <a:bodyPr wrap="square" lIns="0" tIns="0" rIns="0" bIns="0" rtlCol="0" anchor="ctr"/>
          <a:lstStyle/>
          <a:p>
            <a:pPr marL="0" indent="0" algn="l">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Seizure Prediction</a:t>
            </a:r>
            <a:endParaRPr lang="en-US" sz="3800" dirty="0"/>
          </a:p>
        </p:txBody>
      </p:sp>
      <p:sp>
        <p:nvSpPr>
          <p:cNvPr id="6" name="Text 4"/>
          <p:cNvSpPr/>
          <p:nvPr/>
        </p:nvSpPr>
        <p:spPr>
          <a:xfrm>
            <a:off x="365760" y="1719072"/>
            <a:ext cx="7772400" cy="594360"/>
          </a:xfrm>
          <a:prstGeom prst="rect">
            <a:avLst/>
          </a:prstGeom>
          <a:noFill/>
        </p:spPr>
        <p:txBody>
          <a:bodyPr wrap="square" lIns="0" tIns="0" rIns="0" bIns="0" rtlCol="0" anchor="ctr"/>
          <a:lstStyle/>
          <a:p>
            <a:pPr marL="0" indent="0" algn="l">
              <a:buNone/>
            </a:pPr>
            <a:r>
              <a:rPr lang="en-US" sz="1800" dirty="0">
                <a:solidFill>
                  <a:srgbClr val="58B9DA"/>
                </a:solidFill>
                <a:latin typeface="Calibri" panose="020F0502020204030204" pitchFamily="34" charset="0"/>
                <a:ea typeface="Calibri" panose="020F0502020204030204" pitchFamily="34" charset="-122"/>
                <a:cs typeface="Calibri" panose="020F0502020204030204" pitchFamily="34" charset="-120"/>
              </a:rPr>
              <a:t>Preprocessing, Regularisation &amp; Generalisation</a:t>
            </a:r>
            <a:endParaRPr lang="en-US" sz="1800" dirty="0"/>
          </a:p>
        </p:txBody>
      </p:sp>
      <p:sp>
        <p:nvSpPr>
          <p:cNvPr id="7" name="Shape 5"/>
          <p:cNvSpPr/>
          <p:nvPr/>
        </p:nvSpPr>
        <p:spPr>
          <a:xfrm>
            <a:off x="365760" y="2395728"/>
            <a:ext cx="5029200" cy="27432"/>
          </a:xfrm>
          <a:prstGeom prst="rect">
            <a:avLst/>
          </a:prstGeom>
          <a:solidFill>
            <a:srgbClr val="A9B8C3"/>
          </a:solidFill>
          <a:ln w="12700">
            <a:solidFill>
              <a:srgbClr val="A9B8C3"/>
            </a:solidFill>
            <a:prstDash val="solid"/>
          </a:ln>
        </p:spPr>
      </p:sp>
      <p:sp>
        <p:nvSpPr>
          <p:cNvPr id="8" name="Text 6"/>
          <p:cNvSpPr/>
          <p:nvPr/>
        </p:nvSpPr>
        <p:spPr>
          <a:xfrm>
            <a:off x="365760" y="2578608"/>
            <a:ext cx="6400800" cy="384048"/>
          </a:xfrm>
          <a:prstGeom prst="rect">
            <a:avLst/>
          </a:prstGeom>
          <a:noFill/>
        </p:spPr>
        <p:txBody>
          <a:bodyPr wrap="square" lIns="0" tIns="0" rIns="0" bIns="0" rtlCol="0" anchor="ctr"/>
          <a:lstStyle/>
          <a:p>
            <a:pPr marL="0" indent="0" algn="l">
              <a:buNone/>
            </a:pPr>
            <a:r>
              <a:rPr lang="en-US" sz="1300" dirty="0">
                <a:solidFill>
                  <a:srgbClr val="A9B8C3"/>
                </a:solidFill>
                <a:latin typeface="Calibri" panose="020F0502020204030204" pitchFamily="34" charset="0"/>
                <a:ea typeface="Calibri" panose="020F0502020204030204" pitchFamily="34" charset="-122"/>
                <a:cs typeface="Calibri" panose="020F0502020204030204" pitchFamily="34" charset="-120"/>
              </a:rPr>
              <a:t>A Logistic Regression Study on EEG Datasets</a:t>
            </a:r>
            <a:endParaRPr lang="en-US" sz="1300" dirty="0"/>
          </a:p>
        </p:txBody>
      </p:sp>
      <p:sp>
        <p:nvSpPr>
          <p:cNvPr id="9" name="Text 7"/>
          <p:cNvSpPr/>
          <p:nvPr/>
        </p:nvSpPr>
        <p:spPr>
          <a:xfrm>
            <a:off x="365760" y="4187952"/>
            <a:ext cx="5486400" cy="347472"/>
          </a:xfrm>
          <a:prstGeom prst="rect">
            <a:avLst/>
          </a:prstGeom>
          <a:noFill/>
        </p:spPr>
        <p:txBody>
          <a:bodyPr wrap="square" lIns="0" tIns="0" rIns="0" bIns="0" rtlCol="0" anchor="ctr"/>
          <a:lstStyle/>
          <a:p>
            <a:pPr marL="0" indent="0" algn="l">
              <a:buNone/>
            </a:pPr>
            <a:r>
              <a:rPr lang="en-US" sz="1100" i="1" dirty="0">
                <a:solidFill>
                  <a:srgbClr val="FFFFFF"/>
                </a:solidFill>
                <a:latin typeface="Calibri" panose="020F0502020204030204" pitchFamily="34" charset="0"/>
                <a:ea typeface="Calibri" panose="020F0502020204030204" pitchFamily="34" charset="-122"/>
                <a:cs typeface="Calibri" panose="020F0502020204030204" pitchFamily="34" charset="-120"/>
              </a:rPr>
              <a:t>Muhammad Saad Ur Rahman |  IMSciences  </a:t>
            </a:r>
            <a:endParaRPr lang="en-US" sz="1100" dirty="0"/>
          </a:p>
        </p:txBody>
      </p:sp>
      <p:sp>
        <p:nvSpPr>
          <p:cNvPr id="10" name="Shape 8"/>
          <p:cNvSpPr/>
          <p:nvPr/>
        </p:nvSpPr>
        <p:spPr>
          <a:xfrm>
            <a:off x="6400800" y="1371600"/>
            <a:ext cx="2377440" cy="1828800"/>
          </a:xfrm>
          <a:prstGeom prst="ellipse">
            <a:avLst/>
          </a:prstGeom>
          <a:solidFill>
            <a:srgbClr val="58B9DA">
              <a:alpha val="20000"/>
            </a:srgbClr>
          </a:solidFill>
          <a:ln w="19050">
            <a:solidFill>
              <a:srgbClr val="58B9DA"/>
            </a:solidFill>
            <a:prstDash val="solid"/>
          </a:ln>
        </p:spPr>
      </p:sp>
      <p:sp>
        <p:nvSpPr>
          <p:cNvPr id="11" name="Text 9"/>
          <p:cNvSpPr/>
          <p:nvPr/>
        </p:nvSpPr>
        <p:spPr>
          <a:xfrm>
            <a:off x="6400800" y="1508760"/>
            <a:ext cx="2377440" cy="1463040"/>
          </a:xfrm>
          <a:prstGeom prst="rect">
            <a:avLst/>
          </a:prstGeom>
          <a:noFill/>
        </p:spPr>
        <p:txBody>
          <a:bodyPr wrap="square" rtlCol="0" anchor="ctr"/>
          <a:lstStyle/>
          <a:p>
            <a:pPr marL="0" indent="0" algn="ctr">
              <a:buNone/>
            </a:pP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8B9DA"/>
          </a:solidFill>
          <a:ln w="12700">
            <a:solidFill>
              <a:srgbClr val="58B9DA"/>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Agenda</a:t>
            </a:r>
            <a:endParaRPr lang="en-US" sz="1900" dirty="0"/>
          </a:p>
        </p:txBody>
      </p:sp>
      <p:sp>
        <p:nvSpPr>
          <p:cNvPr id="4" name="Shape 2"/>
          <p:cNvSpPr/>
          <p:nvPr/>
        </p:nvSpPr>
        <p:spPr>
          <a:xfrm>
            <a:off x="320040" y="914400"/>
            <a:ext cx="384048" cy="384048"/>
          </a:xfrm>
          <a:prstGeom prst="ellipse">
            <a:avLst/>
          </a:prstGeom>
          <a:solidFill>
            <a:srgbClr val="58B9DA"/>
          </a:solidFill>
          <a:ln w="12700">
            <a:solidFill>
              <a:srgbClr val="58B9DA"/>
            </a:solidFill>
            <a:prstDash val="solid"/>
          </a:ln>
        </p:spPr>
      </p:sp>
      <p:sp>
        <p:nvSpPr>
          <p:cNvPr id="5" name="Text 3"/>
          <p:cNvSpPr/>
          <p:nvPr/>
        </p:nvSpPr>
        <p:spPr>
          <a:xfrm>
            <a:off x="320040" y="914400"/>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6" name="Text 4"/>
          <p:cNvSpPr/>
          <p:nvPr/>
        </p:nvSpPr>
        <p:spPr>
          <a:xfrm>
            <a:off x="795528" y="841248"/>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Datasets &amp; Justifications</a:t>
            </a:r>
            <a:endParaRPr lang="en-US" sz="1200" dirty="0"/>
          </a:p>
        </p:txBody>
      </p:sp>
      <p:sp>
        <p:nvSpPr>
          <p:cNvPr id="7" name="Text 5"/>
          <p:cNvSpPr/>
          <p:nvPr/>
        </p:nvSpPr>
        <p:spPr>
          <a:xfrm>
            <a:off x="795528" y="1115568"/>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Why each dataset was chosen — size, imbalance direction, clinical context</a:t>
            </a:r>
            <a:endParaRPr lang="en-US" sz="900" dirty="0"/>
          </a:p>
        </p:txBody>
      </p:sp>
      <p:sp>
        <p:nvSpPr>
          <p:cNvPr id="8" name="Shape 6"/>
          <p:cNvSpPr/>
          <p:nvPr/>
        </p:nvSpPr>
        <p:spPr>
          <a:xfrm>
            <a:off x="320040" y="1938528"/>
            <a:ext cx="384048" cy="384048"/>
          </a:xfrm>
          <a:prstGeom prst="ellipse">
            <a:avLst/>
          </a:prstGeom>
          <a:solidFill>
            <a:srgbClr val="8DAC28"/>
          </a:solidFill>
          <a:ln w="12700">
            <a:solidFill>
              <a:srgbClr val="8DAC28"/>
            </a:solidFill>
            <a:prstDash val="solid"/>
          </a:ln>
        </p:spPr>
      </p:sp>
      <p:sp>
        <p:nvSpPr>
          <p:cNvPr id="9" name="Text 7"/>
          <p:cNvSpPr/>
          <p:nvPr/>
        </p:nvSpPr>
        <p:spPr>
          <a:xfrm>
            <a:off x="320040" y="1938528"/>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02</a:t>
            </a:r>
            <a:endParaRPr lang="en-US" sz="1000" dirty="0"/>
          </a:p>
        </p:txBody>
      </p:sp>
      <p:sp>
        <p:nvSpPr>
          <p:cNvPr id="10" name="Text 8"/>
          <p:cNvSpPr/>
          <p:nvPr/>
        </p:nvSpPr>
        <p:spPr>
          <a:xfrm>
            <a:off x="795528" y="1865376"/>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Preprocessing — Pipeline A</a:t>
            </a:r>
            <a:endParaRPr lang="en-US" sz="1200" dirty="0"/>
          </a:p>
        </p:txBody>
      </p:sp>
      <p:sp>
        <p:nvSpPr>
          <p:cNvPr id="11" name="Text 9"/>
          <p:cNvSpPr/>
          <p:nvPr/>
        </p:nvSpPr>
        <p:spPr>
          <a:xfrm>
            <a:off x="795528" y="2139696"/>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Signal-clean approach: step-by-step with data example</a:t>
            </a:r>
            <a:endParaRPr lang="en-US" sz="900" dirty="0"/>
          </a:p>
        </p:txBody>
      </p:sp>
      <p:sp>
        <p:nvSpPr>
          <p:cNvPr id="12" name="Shape 10"/>
          <p:cNvSpPr/>
          <p:nvPr/>
        </p:nvSpPr>
        <p:spPr>
          <a:xfrm>
            <a:off x="320040" y="2962656"/>
            <a:ext cx="384048" cy="384048"/>
          </a:xfrm>
          <a:prstGeom prst="ellipse">
            <a:avLst/>
          </a:prstGeom>
          <a:solidFill>
            <a:srgbClr val="8DAC28"/>
          </a:solidFill>
          <a:ln w="12700">
            <a:solidFill>
              <a:srgbClr val="8DAC28"/>
            </a:solidFill>
            <a:prstDash val="solid"/>
          </a:ln>
        </p:spPr>
      </p:sp>
      <p:sp>
        <p:nvSpPr>
          <p:cNvPr id="13" name="Text 11"/>
          <p:cNvSpPr/>
          <p:nvPr/>
        </p:nvSpPr>
        <p:spPr>
          <a:xfrm>
            <a:off x="320040" y="2962656"/>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03</a:t>
            </a:r>
            <a:endParaRPr lang="en-US" sz="1000" dirty="0"/>
          </a:p>
        </p:txBody>
      </p:sp>
      <p:sp>
        <p:nvSpPr>
          <p:cNvPr id="14" name="Text 12"/>
          <p:cNvSpPr/>
          <p:nvPr/>
        </p:nvSpPr>
        <p:spPr>
          <a:xfrm>
            <a:off x="795528" y="2889504"/>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Preprocessing — Pipeline B</a:t>
            </a:r>
            <a:endParaRPr lang="en-US" sz="1200" dirty="0"/>
          </a:p>
        </p:txBody>
      </p:sp>
      <p:sp>
        <p:nvSpPr>
          <p:cNvPr id="15" name="Text 13"/>
          <p:cNvSpPr/>
          <p:nvPr/>
        </p:nvSpPr>
        <p:spPr>
          <a:xfrm>
            <a:off x="795528" y="3163824"/>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Representation-first approach: step-by-step with data example</a:t>
            </a:r>
            <a:endParaRPr lang="en-US" sz="900" dirty="0"/>
          </a:p>
        </p:txBody>
      </p:sp>
      <p:sp>
        <p:nvSpPr>
          <p:cNvPr id="16" name="Shape 14"/>
          <p:cNvSpPr/>
          <p:nvPr/>
        </p:nvSpPr>
        <p:spPr>
          <a:xfrm>
            <a:off x="320040" y="3986784"/>
            <a:ext cx="384048" cy="384048"/>
          </a:xfrm>
          <a:prstGeom prst="ellipse">
            <a:avLst/>
          </a:prstGeom>
          <a:solidFill>
            <a:srgbClr val="58B9DA"/>
          </a:solidFill>
          <a:ln w="12700">
            <a:solidFill>
              <a:srgbClr val="58B9DA"/>
            </a:solidFill>
            <a:prstDash val="solid"/>
          </a:ln>
        </p:spPr>
      </p:sp>
      <p:sp>
        <p:nvSpPr>
          <p:cNvPr id="17" name="Text 15"/>
          <p:cNvSpPr/>
          <p:nvPr/>
        </p:nvSpPr>
        <p:spPr>
          <a:xfrm>
            <a:off x="320040" y="3986784"/>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04</a:t>
            </a:r>
            <a:endParaRPr lang="en-US" sz="1000" dirty="0"/>
          </a:p>
        </p:txBody>
      </p:sp>
      <p:sp>
        <p:nvSpPr>
          <p:cNvPr id="18" name="Text 16"/>
          <p:cNvSpPr/>
          <p:nvPr/>
        </p:nvSpPr>
        <p:spPr>
          <a:xfrm>
            <a:off x="795528" y="3913632"/>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Baseline Results</a:t>
            </a:r>
            <a:endParaRPr lang="en-US" sz="1200" dirty="0"/>
          </a:p>
        </p:txBody>
      </p:sp>
      <p:sp>
        <p:nvSpPr>
          <p:cNvPr id="19" name="Text 17"/>
          <p:cNvSpPr/>
          <p:nvPr/>
        </p:nvSpPr>
        <p:spPr>
          <a:xfrm>
            <a:off x="795528" y="4187952"/>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Accuracy, F1, PR-AUC — why numbers differ across pipelines</a:t>
            </a:r>
            <a:endParaRPr lang="en-US" sz="900" dirty="0"/>
          </a:p>
        </p:txBody>
      </p:sp>
      <p:sp>
        <p:nvSpPr>
          <p:cNvPr id="20" name="Shape 18"/>
          <p:cNvSpPr/>
          <p:nvPr/>
        </p:nvSpPr>
        <p:spPr>
          <a:xfrm>
            <a:off x="4754880" y="914400"/>
            <a:ext cx="384048" cy="384048"/>
          </a:xfrm>
          <a:prstGeom prst="ellipse">
            <a:avLst/>
          </a:prstGeom>
          <a:solidFill>
            <a:srgbClr val="8DAC28"/>
          </a:solidFill>
          <a:ln w="12700">
            <a:solidFill>
              <a:srgbClr val="8DAC28"/>
            </a:solidFill>
            <a:prstDash val="solid"/>
          </a:ln>
        </p:spPr>
      </p:sp>
      <p:sp>
        <p:nvSpPr>
          <p:cNvPr id="21" name="Text 19"/>
          <p:cNvSpPr/>
          <p:nvPr/>
        </p:nvSpPr>
        <p:spPr>
          <a:xfrm>
            <a:off x="4754880" y="914400"/>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05</a:t>
            </a:r>
            <a:endParaRPr lang="en-US" sz="1000" dirty="0"/>
          </a:p>
        </p:txBody>
      </p:sp>
      <p:sp>
        <p:nvSpPr>
          <p:cNvPr id="22" name="Text 20"/>
          <p:cNvSpPr/>
          <p:nvPr/>
        </p:nvSpPr>
        <p:spPr>
          <a:xfrm>
            <a:off x="5230368" y="841248"/>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Overfitting &amp; Underfitting</a:t>
            </a:r>
            <a:endParaRPr lang="en-US" sz="1200" dirty="0"/>
          </a:p>
        </p:txBody>
      </p:sp>
      <p:sp>
        <p:nvSpPr>
          <p:cNvPr id="23" name="Text 21"/>
          <p:cNvSpPr/>
          <p:nvPr/>
        </p:nvSpPr>
        <p:spPr>
          <a:xfrm>
            <a:off x="5230368" y="1115568"/>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Intentional extremes — learning curve analysis</a:t>
            </a:r>
            <a:endParaRPr lang="en-US" sz="900" dirty="0"/>
          </a:p>
        </p:txBody>
      </p:sp>
      <p:sp>
        <p:nvSpPr>
          <p:cNvPr id="24" name="Shape 22"/>
          <p:cNvSpPr/>
          <p:nvPr/>
        </p:nvSpPr>
        <p:spPr>
          <a:xfrm>
            <a:off x="4754880" y="1938528"/>
            <a:ext cx="384048" cy="384048"/>
          </a:xfrm>
          <a:prstGeom prst="ellipse">
            <a:avLst/>
          </a:prstGeom>
          <a:solidFill>
            <a:srgbClr val="58B9DA"/>
          </a:solidFill>
          <a:ln w="12700">
            <a:solidFill>
              <a:srgbClr val="58B9DA"/>
            </a:solidFill>
            <a:prstDash val="solid"/>
          </a:ln>
        </p:spPr>
      </p:sp>
      <p:sp>
        <p:nvSpPr>
          <p:cNvPr id="25" name="Text 23"/>
          <p:cNvSpPr/>
          <p:nvPr/>
        </p:nvSpPr>
        <p:spPr>
          <a:xfrm>
            <a:off x="4754880" y="1938528"/>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06</a:t>
            </a:r>
            <a:endParaRPr lang="en-US" sz="1000" dirty="0"/>
          </a:p>
        </p:txBody>
      </p:sp>
      <p:sp>
        <p:nvSpPr>
          <p:cNvPr id="26" name="Text 24"/>
          <p:cNvSpPr/>
          <p:nvPr/>
        </p:nvSpPr>
        <p:spPr>
          <a:xfrm>
            <a:off x="5230368" y="1865376"/>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Regularisation Study</a:t>
            </a:r>
            <a:endParaRPr lang="en-US" sz="1200" dirty="0"/>
          </a:p>
        </p:txBody>
      </p:sp>
      <p:sp>
        <p:nvSpPr>
          <p:cNvPr id="27" name="Text 25"/>
          <p:cNvSpPr/>
          <p:nvPr/>
        </p:nvSpPr>
        <p:spPr>
          <a:xfrm>
            <a:off x="5230368" y="2139696"/>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L1 · L2 · Elastic Net — sparsity, F1, heatmap explained</a:t>
            </a:r>
            <a:endParaRPr lang="en-US" sz="900" dirty="0"/>
          </a:p>
        </p:txBody>
      </p:sp>
      <p:sp>
        <p:nvSpPr>
          <p:cNvPr id="28" name="Shape 26"/>
          <p:cNvSpPr/>
          <p:nvPr/>
        </p:nvSpPr>
        <p:spPr>
          <a:xfrm>
            <a:off x="4754880" y="2962656"/>
            <a:ext cx="384048" cy="384048"/>
          </a:xfrm>
          <a:prstGeom prst="ellipse">
            <a:avLst/>
          </a:prstGeom>
          <a:solidFill>
            <a:srgbClr val="8DAC28"/>
          </a:solidFill>
          <a:ln w="12700">
            <a:solidFill>
              <a:srgbClr val="8DAC28"/>
            </a:solidFill>
            <a:prstDash val="solid"/>
          </a:ln>
        </p:spPr>
      </p:sp>
      <p:sp>
        <p:nvSpPr>
          <p:cNvPr id="29" name="Text 27"/>
          <p:cNvSpPr/>
          <p:nvPr/>
        </p:nvSpPr>
        <p:spPr>
          <a:xfrm>
            <a:off x="4754880" y="2962656"/>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07</a:t>
            </a:r>
            <a:endParaRPr lang="en-US" sz="1000" dirty="0"/>
          </a:p>
        </p:txBody>
      </p:sp>
      <p:sp>
        <p:nvSpPr>
          <p:cNvPr id="30" name="Text 28"/>
          <p:cNvSpPr/>
          <p:nvPr/>
        </p:nvSpPr>
        <p:spPr>
          <a:xfrm>
            <a:off x="5230368" y="2889504"/>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Class Imbalance Handling</a:t>
            </a:r>
            <a:endParaRPr lang="en-US" sz="1200" dirty="0"/>
          </a:p>
        </p:txBody>
      </p:sp>
      <p:sp>
        <p:nvSpPr>
          <p:cNvPr id="31" name="Text 29"/>
          <p:cNvSpPr/>
          <p:nvPr/>
        </p:nvSpPr>
        <p:spPr>
          <a:xfrm>
            <a:off x="5230368" y="3163824"/>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SMOTE, undersampling, class weighting — with graph explanation</a:t>
            </a:r>
            <a:endParaRPr lang="en-US" sz="900" dirty="0"/>
          </a:p>
        </p:txBody>
      </p:sp>
      <p:sp>
        <p:nvSpPr>
          <p:cNvPr id="32" name="Shape 30"/>
          <p:cNvSpPr/>
          <p:nvPr/>
        </p:nvSpPr>
        <p:spPr>
          <a:xfrm>
            <a:off x="4754880" y="3986784"/>
            <a:ext cx="384048" cy="384048"/>
          </a:xfrm>
          <a:prstGeom prst="ellipse">
            <a:avLst/>
          </a:prstGeom>
          <a:solidFill>
            <a:srgbClr val="58B9DA"/>
          </a:solidFill>
          <a:ln w="12700">
            <a:solidFill>
              <a:srgbClr val="58B9DA"/>
            </a:solidFill>
            <a:prstDash val="solid"/>
          </a:ln>
        </p:spPr>
      </p:sp>
      <p:sp>
        <p:nvSpPr>
          <p:cNvPr id="33" name="Text 31"/>
          <p:cNvSpPr/>
          <p:nvPr/>
        </p:nvSpPr>
        <p:spPr>
          <a:xfrm>
            <a:off x="4754880" y="3986784"/>
            <a:ext cx="384048" cy="384048"/>
          </a:xfrm>
          <a:prstGeom prst="rect">
            <a:avLst/>
          </a:prstGeom>
          <a:noFill/>
        </p:spPr>
        <p:txBody>
          <a:bodyPr wrap="square" lIns="0" tIns="0" rIns="0" bIns="0" rtlCol="0" anchor="ctr"/>
          <a:lstStyle/>
          <a:p>
            <a:pPr marL="0" indent="0" algn="ctr">
              <a:buNone/>
            </a:pPr>
            <a:r>
              <a:rPr lang="en-US" sz="1000" b="1" dirty="0">
                <a:solidFill>
                  <a:srgbClr val="FFFFFF"/>
                </a:solidFill>
              </a:rPr>
              <a:t>08</a:t>
            </a:r>
            <a:endParaRPr lang="en-US" sz="1000" dirty="0"/>
          </a:p>
        </p:txBody>
      </p:sp>
      <p:sp>
        <p:nvSpPr>
          <p:cNvPr id="34" name="Text 32"/>
          <p:cNvSpPr/>
          <p:nvPr/>
        </p:nvSpPr>
        <p:spPr>
          <a:xfrm>
            <a:off x="5230368" y="3913632"/>
            <a:ext cx="3840480" cy="292608"/>
          </a:xfrm>
          <a:prstGeom prst="rect">
            <a:avLst/>
          </a:prstGeom>
          <a:noFill/>
        </p:spPr>
        <p:txBody>
          <a:bodyPr wrap="square" lIns="0" tIns="0" rIns="0" bIns="0" rtlCol="0" anchor="ctr"/>
          <a:lstStyle/>
          <a:p>
            <a:pPr marL="0" indent="0">
              <a:buNone/>
            </a:pPr>
            <a:r>
              <a:rPr lang="en-US" sz="1200" b="1" dirty="0">
                <a:solidFill>
                  <a:srgbClr val="1E2A32"/>
                </a:solidFill>
                <a:latin typeface="Calibri" panose="020F0502020204030204" pitchFamily="34" charset="0"/>
                <a:ea typeface="Calibri" panose="020F0502020204030204" pitchFamily="34" charset="-122"/>
                <a:cs typeface="Calibri" panose="020F0502020204030204" pitchFamily="34" charset="-120"/>
              </a:rPr>
              <a:t>Comparative Analysis</a:t>
            </a:r>
            <a:endParaRPr lang="en-US" sz="1200" dirty="0"/>
          </a:p>
        </p:txBody>
      </p:sp>
      <p:sp>
        <p:nvSpPr>
          <p:cNvPr id="35" name="Text 33"/>
          <p:cNvSpPr/>
          <p:nvPr/>
        </p:nvSpPr>
        <p:spPr>
          <a:xfrm>
            <a:off x="5230368" y="4187952"/>
            <a:ext cx="3840480" cy="292608"/>
          </a:xfrm>
          <a:prstGeom prst="rect">
            <a:avLst/>
          </a:prstGeom>
          <a:noFill/>
        </p:spPr>
        <p:txBody>
          <a:bodyPr wrap="square" lIns="0" tIns="0" rIns="0" bIns="0" rtlCol="0" anchor="ctr"/>
          <a:lstStyle/>
          <a:p>
            <a:pPr marL="0" indent="0">
              <a:buNone/>
            </a:pPr>
            <a:r>
              <a:rPr lang="en-US" sz="900" dirty="0">
                <a:solidFill>
                  <a:srgbClr val="A9B8C3"/>
                </a:solidFill>
                <a:latin typeface="Calibri" panose="020F0502020204030204" pitchFamily="34" charset="0"/>
                <a:ea typeface="Calibri" panose="020F0502020204030204" pitchFamily="34" charset="-122"/>
                <a:cs typeface="Calibri" panose="020F0502020204030204" pitchFamily="34" charset="-120"/>
              </a:rPr>
              <a:t>4 research questions answered with evidence</a:t>
            </a:r>
            <a:endParaRPr lang="en-US" sz="900" dirty="0"/>
          </a:p>
        </p:txBody>
      </p:sp>
      <p:sp>
        <p:nvSpPr>
          <p:cNvPr id="36" name="Shape 34"/>
          <p:cNvSpPr/>
          <p:nvPr/>
        </p:nvSpPr>
        <p:spPr>
          <a:xfrm>
            <a:off x="4617720" y="841248"/>
            <a:ext cx="45720" cy="4114800"/>
          </a:xfrm>
          <a:prstGeom prst="rect">
            <a:avLst/>
          </a:prstGeom>
          <a:solidFill>
            <a:srgbClr val="E0E8EE"/>
          </a:solidFill>
          <a:ln w="12700">
            <a:solidFill>
              <a:srgbClr val="E0E8E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A32"/>
          </a:solidFill>
          <a:ln w="12700">
            <a:solidFill>
              <a:srgbClr val="1E2A32"/>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  |  Datasets — Overview</a:t>
            </a:r>
            <a:endParaRPr lang="en-US" sz="1900" dirty="0"/>
          </a:p>
        </p:txBody>
      </p:sp>
      <p:graphicFrame>
        <p:nvGraphicFramePr>
          <p:cNvPr id="4" name="Table 0"/>
          <p:cNvGraphicFramePr>
            <a:graphicFrameLocks noGrp="1"/>
          </p:cNvGraphicFramePr>
          <p:nvPr/>
        </p:nvGraphicFramePr>
        <p:xfrm>
          <a:off x="320040" y="804672"/>
          <a:ext cx="8503922" cy="1645920"/>
        </p:xfrm>
        <a:graphic>
          <a:graphicData uri="http://schemas.openxmlformats.org/drawingml/2006/table">
            <a:tbl>
              <a:tblPr/>
              <a:tblGrid>
                <a:gridCol w="1214846"/>
                <a:gridCol w="1214846"/>
                <a:gridCol w="1214846"/>
                <a:gridCol w="1214846"/>
                <a:gridCol w="1214846"/>
                <a:gridCol w="1214846"/>
                <a:gridCol w="1214846"/>
              </a:tblGrid>
              <a:tr h="347472">
                <a:tc>
                  <a:txBody>
                    <a:bodyPr/>
                    <a:lstStyle/>
                    <a:p>
                      <a:pPr marL="0" indent="0" algn="ctr">
                        <a:buNone/>
                      </a:pPr>
                      <a:r>
                        <a:rPr lang="en-US" sz="900" b="1" dirty="0">
                          <a:solidFill>
                            <a:srgbClr val="FFFFFF"/>
                          </a:solidFill>
                        </a:rPr>
                        <a:t>Dataset</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Source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Samples</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Features</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Feature Type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Imbalance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900" b="1" dirty="0">
                          <a:solidFill>
                            <a:srgbClr val="FFFFFF"/>
                          </a:solidFill>
                        </a:rPr>
                        <a:t>Size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r>
              <a:tr h="402336">
                <a:tc>
                  <a:txBody>
                    <a:bodyPr/>
                    <a:lstStyle/>
                    <a:p>
                      <a:pPr marL="0" indent="0" algn="ctr">
                        <a:buNone/>
                      </a:pPr>
                      <a:r>
                        <a:rPr lang="en-US" sz="900" b="1" dirty="0">
                          <a:solidFill>
                            <a:srgbClr val="58B9DA"/>
                          </a:solidFill>
                        </a:rPr>
                        <a:t>D1 — UCI Epileptic</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Bonn University</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11,500</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178</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E2A32"/>
                          </a:solidFill>
                        </a:rPr>
                        <a:t>178 EEG time-points per row</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C0392B"/>
                          </a:solidFill>
                        </a:rPr>
                        <a:t>4:1 non-seizure heavy</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~17 MB</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402336">
                <a:tc>
                  <a:txBody>
                    <a:bodyPr/>
                    <a:lstStyle/>
                    <a:p>
                      <a:pPr marL="0" indent="0" algn="ctr">
                        <a:buNone/>
                      </a:pPr>
                      <a:r>
                        <a:rPr lang="en-US" sz="900" b="1" dirty="0">
                          <a:solidFill>
                            <a:srgbClr val="8DAC28"/>
                          </a:solidFill>
                        </a:rPr>
                        <a:t>D2 — BEED Bangalore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E2A32"/>
                          </a:solidFill>
                        </a:rPr>
                        <a:t>Bangalore Neuro Centre</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8,000</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16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E2A32"/>
                          </a:solidFill>
                        </a:rPr>
                        <a:t>16 raw scalp channel readings</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8DAC28"/>
                          </a:solidFill>
                        </a:rPr>
                        <a:t>1:3 seizure heavy (inverted)</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~1 MB</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402336">
                <a:tc>
                  <a:txBody>
                    <a:bodyPr/>
                    <a:lstStyle/>
                    <a:p>
                      <a:pPr marL="0" indent="0" algn="ctr">
                        <a:buNone/>
                      </a:pPr>
                      <a:r>
                        <a:rPr lang="en-US" sz="900" b="1" dirty="0">
                          <a:solidFill>
                            <a:srgbClr val="A9B8C3"/>
                          </a:solidFill>
                        </a:rPr>
                        <a:t>D3 — CHB-MIT Clinical</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E2A32"/>
                          </a:solidFill>
                        </a:rPr>
                        <a:t>Boston Children's Hosp.</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3,546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5,888</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E2A32"/>
                          </a:solidFill>
                        </a:rPr>
                        <a:t>23ch × 256 time-points</a:t>
                      </a:r>
                      <a:endParaRPr lang="en-US" sz="8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58B9DA"/>
                          </a:solidFill>
                        </a:rPr>
                        <a:t>~1:1 balanced</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~167 MB</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bl>
          </a:graphicData>
        </a:graphic>
      </p:graphicFrame>
      <p:sp>
        <p:nvSpPr>
          <p:cNvPr id="5" name="Shape 2"/>
          <p:cNvSpPr/>
          <p:nvPr/>
        </p:nvSpPr>
        <p:spPr>
          <a:xfrm>
            <a:off x="320040" y="2633472"/>
            <a:ext cx="2651760" cy="2359152"/>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6" name="Shape 3"/>
          <p:cNvSpPr/>
          <p:nvPr/>
        </p:nvSpPr>
        <p:spPr>
          <a:xfrm>
            <a:off x="320040" y="2633472"/>
            <a:ext cx="2651760" cy="91440"/>
          </a:xfrm>
          <a:prstGeom prst="rect">
            <a:avLst/>
          </a:prstGeom>
          <a:solidFill>
            <a:srgbClr val="58B9DA"/>
          </a:solidFill>
          <a:ln w="12700">
            <a:solidFill>
              <a:srgbClr val="58B9DA"/>
            </a:solidFill>
            <a:prstDash val="solid"/>
          </a:ln>
        </p:spPr>
      </p:sp>
      <p:sp>
        <p:nvSpPr>
          <p:cNvPr id="7" name="Text 4"/>
          <p:cNvSpPr/>
          <p:nvPr/>
        </p:nvSpPr>
        <p:spPr>
          <a:xfrm>
            <a:off x="457200" y="2816352"/>
            <a:ext cx="2377440" cy="347472"/>
          </a:xfrm>
          <a:prstGeom prst="rect">
            <a:avLst/>
          </a:prstGeom>
          <a:noFill/>
        </p:spPr>
        <p:txBody>
          <a:bodyPr wrap="square" lIns="0" tIns="0" rIns="0" bIns="0" rtlCol="0" anchor="ctr"/>
          <a:lstStyle/>
          <a:p>
            <a:pPr marL="0" indent="0">
              <a:buNone/>
            </a:pPr>
            <a:r>
              <a:rPr lang="en-US" sz="2200" b="1" dirty="0">
                <a:solidFill>
                  <a:srgbClr val="58B9DA"/>
                </a:solidFill>
                <a:latin typeface="Calibri" panose="020F0502020204030204" pitchFamily="34" charset="0"/>
                <a:ea typeface="Calibri" panose="020F0502020204030204" pitchFamily="34" charset="-122"/>
                <a:cs typeface="Calibri" panose="020F0502020204030204" pitchFamily="34" charset="-120"/>
              </a:rPr>
              <a:t>D1</a:t>
            </a:r>
            <a:endParaRPr lang="en-US" sz="2200" dirty="0"/>
          </a:p>
        </p:txBody>
      </p:sp>
      <p:sp>
        <p:nvSpPr>
          <p:cNvPr id="8" name="Text 5"/>
          <p:cNvSpPr/>
          <p:nvPr/>
        </p:nvSpPr>
        <p:spPr>
          <a:xfrm>
            <a:off x="429768" y="3163824"/>
            <a:ext cx="2468880" cy="365760"/>
          </a:xfrm>
          <a:prstGeom prst="rect">
            <a:avLst/>
          </a:prstGeom>
          <a:noFill/>
        </p:spPr>
        <p:txBody>
          <a:bodyPr wrap="square" lIns="0" tIns="0" rIns="0" bIns="0" rtlCol="0" anchor="ctr"/>
          <a:lstStyle/>
          <a:p>
            <a:pPr marL="0" indent="0">
              <a:buNone/>
            </a:pPr>
            <a:r>
              <a:rPr lang="en-US" sz="950" b="1" dirty="0">
                <a:solidFill>
                  <a:srgbClr val="1E2A32"/>
                </a:solidFill>
                <a:latin typeface="Calibri" panose="020F0502020204030204" pitchFamily="34" charset="0"/>
                <a:ea typeface="Calibri" panose="020F0502020204030204" pitchFamily="34" charset="-122"/>
                <a:cs typeface="Calibri" panose="020F0502020204030204" pitchFamily="34" charset="-120"/>
              </a:rPr>
              <a:t>Why D1?  Negative-class imbalance</a:t>
            </a:r>
            <a:endParaRPr lang="en-US" sz="950" dirty="0"/>
          </a:p>
        </p:txBody>
      </p:sp>
      <p:sp>
        <p:nvSpPr>
          <p:cNvPr id="9" name="Text 6"/>
          <p:cNvSpPr/>
          <p:nvPr/>
        </p:nvSpPr>
        <p:spPr>
          <a:xfrm>
            <a:off x="429768" y="3529584"/>
            <a:ext cx="2468880" cy="135331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4:1 skew in favour of non-seizure. A naive model scores 80% accuracy by predicting 'no seizure' every time. This dataset exists to prove that accuracy is a broken metric under imbalance — and to stress-test recall recovery via resampling and class weighting.</a:t>
            </a:r>
            <a:endParaRPr lang="en-US" sz="850" dirty="0"/>
          </a:p>
        </p:txBody>
      </p:sp>
      <p:sp>
        <p:nvSpPr>
          <p:cNvPr id="10" name="Shape 7"/>
          <p:cNvSpPr/>
          <p:nvPr/>
        </p:nvSpPr>
        <p:spPr>
          <a:xfrm>
            <a:off x="3246120" y="2633472"/>
            <a:ext cx="2651760" cy="2359152"/>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11" name="Shape 8"/>
          <p:cNvSpPr/>
          <p:nvPr/>
        </p:nvSpPr>
        <p:spPr>
          <a:xfrm>
            <a:off x="3246120" y="2633472"/>
            <a:ext cx="2651760" cy="91440"/>
          </a:xfrm>
          <a:prstGeom prst="rect">
            <a:avLst/>
          </a:prstGeom>
          <a:solidFill>
            <a:srgbClr val="8DAC28"/>
          </a:solidFill>
          <a:ln w="12700">
            <a:solidFill>
              <a:srgbClr val="8DAC28"/>
            </a:solidFill>
            <a:prstDash val="solid"/>
          </a:ln>
        </p:spPr>
      </p:sp>
      <p:sp>
        <p:nvSpPr>
          <p:cNvPr id="12" name="Text 9"/>
          <p:cNvSpPr/>
          <p:nvPr/>
        </p:nvSpPr>
        <p:spPr>
          <a:xfrm>
            <a:off x="3383280" y="2816352"/>
            <a:ext cx="2377440" cy="347472"/>
          </a:xfrm>
          <a:prstGeom prst="rect">
            <a:avLst/>
          </a:prstGeom>
          <a:noFill/>
        </p:spPr>
        <p:txBody>
          <a:bodyPr wrap="square" lIns="0" tIns="0" rIns="0" bIns="0" rtlCol="0" anchor="ctr"/>
          <a:lstStyle/>
          <a:p>
            <a:pPr marL="0" indent="0">
              <a:buNone/>
            </a:pPr>
            <a:r>
              <a:rPr lang="en-US" sz="2200" b="1" dirty="0">
                <a:solidFill>
                  <a:srgbClr val="8DAC28"/>
                </a:solidFill>
                <a:latin typeface="Calibri" panose="020F0502020204030204" pitchFamily="34" charset="0"/>
                <a:ea typeface="Calibri" panose="020F0502020204030204" pitchFamily="34" charset="-122"/>
                <a:cs typeface="Calibri" panose="020F0502020204030204" pitchFamily="34" charset="-120"/>
              </a:rPr>
              <a:t>D2</a:t>
            </a:r>
            <a:endParaRPr lang="en-US" sz="2200" dirty="0"/>
          </a:p>
        </p:txBody>
      </p:sp>
      <p:sp>
        <p:nvSpPr>
          <p:cNvPr id="13" name="Text 10"/>
          <p:cNvSpPr/>
          <p:nvPr/>
        </p:nvSpPr>
        <p:spPr>
          <a:xfrm>
            <a:off x="3355848" y="3163824"/>
            <a:ext cx="2468880" cy="365760"/>
          </a:xfrm>
          <a:prstGeom prst="rect">
            <a:avLst/>
          </a:prstGeom>
          <a:noFill/>
        </p:spPr>
        <p:txBody>
          <a:bodyPr wrap="square" lIns="0" tIns="0" rIns="0" bIns="0" rtlCol="0" anchor="ctr"/>
          <a:lstStyle/>
          <a:p>
            <a:pPr marL="0" indent="0">
              <a:buNone/>
            </a:pPr>
            <a:r>
              <a:rPr lang="en-US" sz="950" b="1" dirty="0">
                <a:solidFill>
                  <a:srgbClr val="1E2A32"/>
                </a:solidFill>
                <a:latin typeface="Calibri" panose="020F0502020204030204" pitchFamily="34" charset="0"/>
                <a:ea typeface="Calibri" panose="020F0502020204030204" pitchFamily="34" charset="-122"/>
                <a:cs typeface="Calibri" panose="020F0502020204030204" pitchFamily="34" charset="-120"/>
              </a:rPr>
              <a:t>Why D2?  Inverted imbalance</a:t>
            </a:r>
            <a:endParaRPr lang="en-US" sz="950" dirty="0"/>
          </a:p>
        </p:txBody>
      </p:sp>
      <p:sp>
        <p:nvSpPr>
          <p:cNvPr id="14" name="Text 11"/>
          <p:cNvSpPr/>
          <p:nvPr/>
        </p:nvSpPr>
        <p:spPr>
          <a:xfrm>
            <a:off x="3355848" y="3529584"/>
            <a:ext cx="2468880" cy="135331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Seizures are the majority class (3:1). This deliberately flips the common assumption that 'minority = seizure'. It reveals that SMOTE — designed for the opposite scenario — actively hurts performance here, forcing the analysis to treat imbalance direction as a variable.</a:t>
            </a:r>
            <a:endParaRPr lang="en-US" sz="850" dirty="0"/>
          </a:p>
        </p:txBody>
      </p:sp>
      <p:sp>
        <p:nvSpPr>
          <p:cNvPr id="15" name="Shape 12"/>
          <p:cNvSpPr/>
          <p:nvPr/>
        </p:nvSpPr>
        <p:spPr>
          <a:xfrm>
            <a:off x="6172200" y="2633472"/>
            <a:ext cx="2651760" cy="2359152"/>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16" name="Shape 13"/>
          <p:cNvSpPr/>
          <p:nvPr/>
        </p:nvSpPr>
        <p:spPr>
          <a:xfrm>
            <a:off x="6172200" y="2633472"/>
            <a:ext cx="2651760" cy="91440"/>
          </a:xfrm>
          <a:prstGeom prst="rect">
            <a:avLst/>
          </a:prstGeom>
          <a:solidFill>
            <a:srgbClr val="A9B8C3"/>
          </a:solidFill>
          <a:ln w="12700">
            <a:solidFill>
              <a:srgbClr val="A9B8C3"/>
            </a:solidFill>
            <a:prstDash val="solid"/>
          </a:ln>
        </p:spPr>
      </p:sp>
      <p:sp>
        <p:nvSpPr>
          <p:cNvPr id="17" name="Text 14"/>
          <p:cNvSpPr/>
          <p:nvPr/>
        </p:nvSpPr>
        <p:spPr>
          <a:xfrm>
            <a:off x="6309360" y="2816352"/>
            <a:ext cx="2377440" cy="347472"/>
          </a:xfrm>
          <a:prstGeom prst="rect">
            <a:avLst/>
          </a:prstGeom>
          <a:noFill/>
        </p:spPr>
        <p:txBody>
          <a:bodyPr wrap="square" lIns="0" tIns="0" rIns="0" bIns="0" rtlCol="0" anchor="ctr"/>
          <a:lstStyle/>
          <a:p>
            <a:pPr marL="0" indent="0">
              <a:buNone/>
            </a:pPr>
            <a:r>
              <a:rPr lang="en-US" sz="2200" b="1" dirty="0">
                <a:solidFill>
                  <a:srgbClr val="A9B8C3"/>
                </a:solidFill>
                <a:latin typeface="Calibri" panose="020F0502020204030204" pitchFamily="34" charset="0"/>
                <a:ea typeface="Calibri" panose="020F0502020204030204" pitchFamily="34" charset="-122"/>
                <a:cs typeface="Calibri" panose="020F0502020204030204" pitchFamily="34" charset="-120"/>
              </a:rPr>
              <a:t>D3</a:t>
            </a:r>
            <a:endParaRPr lang="en-US" sz="2200" dirty="0"/>
          </a:p>
        </p:txBody>
      </p:sp>
      <p:sp>
        <p:nvSpPr>
          <p:cNvPr id="18" name="Text 15"/>
          <p:cNvSpPr/>
          <p:nvPr/>
        </p:nvSpPr>
        <p:spPr>
          <a:xfrm>
            <a:off x="6281928" y="3163824"/>
            <a:ext cx="2468880" cy="365760"/>
          </a:xfrm>
          <a:prstGeom prst="rect">
            <a:avLst/>
          </a:prstGeom>
          <a:noFill/>
        </p:spPr>
        <p:txBody>
          <a:bodyPr wrap="square" lIns="0" tIns="0" rIns="0" bIns="0" rtlCol="0" anchor="ctr"/>
          <a:lstStyle/>
          <a:p>
            <a:pPr marL="0" indent="0">
              <a:buNone/>
            </a:pPr>
            <a:r>
              <a:rPr lang="en-US" sz="950" b="1" dirty="0">
                <a:solidFill>
                  <a:srgbClr val="1E2A32"/>
                </a:solidFill>
                <a:latin typeface="Calibri" panose="020F0502020204030204" pitchFamily="34" charset="0"/>
                <a:ea typeface="Calibri" panose="020F0502020204030204" pitchFamily="34" charset="-122"/>
                <a:cs typeface="Calibri" panose="020F0502020204030204" pitchFamily="34" charset="-120"/>
              </a:rPr>
              <a:t>Why D3?  Closest to real-world</a:t>
            </a:r>
            <a:endParaRPr lang="en-US" sz="950" dirty="0"/>
          </a:p>
        </p:txBody>
      </p:sp>
      <p:sp>
        <p:nvSpPr>
          <p:cNvPr id="19" name="Text 16"/>
          <p:cNvSpPr/>
          <p:nvPr/>
        </p:nvSpPr>
        <p:spPr>
          <a:xfrm>
            <a:off x="6281928" y="3529584"/>
            <a:ext cx="2468880" cy="135331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Neurologist-annotated clinical EEG, 23 channels, balanced 1:1. This is what an actual hospital dataset looks like — high-dimensional, carefully labelled, no artificial skew. Results here reflect the true difficulty of the task, not artefacts of class distribution.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8B9DA"/>
          </a:solidFill>
          <a:ln w="12700">
            <a:solidFill>
              <a:srgbClr val="58B9DA"/>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  |  Pipeline A — Signal-Clean First</a:t>
            </a:r>
            <a:endParaRPr lang="en-US" sz="1900" dirty="0"/>
          </a:p>
        </p:txBody>
      </p:sp>
      <p:sp>
        <p:nvSpPr>
          <p:cNvPr id="4" name="Text 2"/>
          <p:cNvSpPr/>
          <p:nvPr/>
        </p:nvSpPr>
        <p:spPr>
          <a:xfrm>
            <a:off x="365760" y="749808"/>
            <a:ext cx="8412480" cy="274320"/>
          </a:xfrm>
          <a:prstGeom prst="rect">
            <a:avLst/>
          </a:prstGeom>
          <a:noFill/>
        </p:spPr>
        <p:txBody>
          <a:bodyPr wrap="square" lIns="0" tIns="0" rIns="0" bIns="0" rtlCol="0" anchor="ctr"/>
          <a:lstStyle/>
          <a:p>
            <a:pPr marL="0" indent="0">
              <a:buNone/>
            </a:pPr>
            <a:r>
              <a:rPr lang="en-US" sz="1050" i="1" dirty="0">
                <a:solidFill>
                  <a:srgbClr val="1E2A32"/>
                </a:solidFill>
                <a:latin typeface="Calibri" panose="020F0502020204030204" pitchFamily="34" charset="0"/>
                <a:ea typeface="Calibri" panose="020F0502020204030204" pitchFamily="34" charset="-122"/>
                <a:cs typeface="Calibri" panose="020F0502020204030204" pitchFamily="34" charset="-120"/>
              </a:rPr>
              <a:t>idea: clean the raw signal(data), then select the best features from it.</a:t>
            </a:r>
            <a:endParaRPr lang="en-US" sz="1050" dirty="0"/>
          </a:p>
        </p:txBody>
      </p:sp>
      <p:sp>
        <p:nvSpPr>
          <p:cNvPr id="5" name="Shape 3"/>
          <p:cNvSpPr/>
          <p:nvPr/>
        </p:nvSpPr>
        <p:spPr>
          <a:xfrm>
            <a:off x="320040"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6" name="Shape 4"/>
          <p:cNvSpPr/>
          <p:nvPr/>
        </p:nvSpPr>
        <p:spPr>
          <a:xfrm>
            <a:off x="320040" y="1115568"/>
            <a:ext cx="2606040" cy="91440"/>
          </a:xfrm>
          <a:prstGeom prst="rect">
            <a:avLst/>
          </a:prstGeom>
          <a:solidFill>
            <a:srgbClr val="58B9DA"/>
          </a:solidFill>
          <a:ln w="12700">
            <a:solidFill>
              <a:srgbClr val="58B9DA"/>
            </a:solidFill>
            <a:prstDash val="solid"/>
          </a:ln>
        </p:spPr>
      </p:sp>
      <p:sp>
        <p:nvSpPr>
          <p:cNvPr id="7" name="Shape 5"/>
          <p:cNvSpPr/>
          <p:nvPr/>
        </p:nvSpPr>
        <p:spPr>
          <a:xfrm>
            <a:off x="429768" y="1207008"/>
            <a:ext cx="347472" cy="347472"/>
          </a:xfrm>
          <a:prstGeom prst="ellipse">
            <a:avLst/>
          </a:prstGeom>
          <a:solidFill>
            <a:srgbClr val="58B9DA"/>
          </a:solidFill>
          <a:ln w="12700">
            <a:solidFill>
              <a:srgbClr val="58B9DA"/>
            </a:solidFill>
            <a:prstDash val="solid"/>
          </a:ln>
        </p:spPr>
      </p:sp>
      <p:sp>
        <p:nvSpPr>
          <p:cNvPr id="8" name="Text 6"/>
          <p:cNvSpPr/>
          <p:nvPr/>
        </p:nvSpPr>
        <p:spPr>
          <a:xfrm>
            <a:off x="429768"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7"/>
          <p:cNvSpPr/>
          <p:nvPr/>
        </p:nvSpPr>
        <p:spPr>
          <a:xfrm>
            <a:off x="868680" y="1188720"/>
            <a:ext cx="1920240" cy="347472"/>
          </a:xfrm>
          <a:prstGeom prst="rect">
            <a:avLst/>
          </a:prstGeom>
          <a:noFill/>
        </p:spPr>
        <p:txBody>
          <a:bodyPr wrap="square" lIns="0" tIns="0" rIns="0" bIns="0" rtlCol="0" anchor="ctr"/>
          <a:lstStyle/>
          <a:p>
            <a:pPr marL="0" indent="0">
              <a:buNone/>
            </a:pPr>
            <a:r>
              <a:rPr lang="en-US" sz="1100" b="1" dirty="0">
                <a:solidFill>
                  <a:srgbClr val="58B9DA"/>
                </a:solidFill>
                <a:latin typeface="Calibri" panose="020F0502020204030204" pitchFamily="34" charset="0"/>
                <a:ea typeface="Calibri" panose="020F0502020204030204" pitchFamily="34" charset="-122"/>
                <a:cs typeface="Calibri" panose="020F0502020204030204" pitchFamily="34" charset="-120"/>
              </a:rPr>
              <a:t>Min-Max Normalisation</a:t>
            </a:r>
            <a:endParaRPr lang="en-US" sz="1100" dirty="0"/>
          </a:p>
        </p:txBody>
      </p:sp>
      <p:sp>
        <p:nvSpPr>
          <p:cNvPr id="10" name="Text 8"/>
          <p:cNvSpPr/>
          <p:nvPr/>
        </p:nvSpPr>
        <p:spPr>
          <a:xfrm>
            <a:off x="429768"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Scale every feature to [0,1].</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Removes amplitude differences between channels.</a:t>
            </a:r>
            <a:endParaRPr lang="en-US" sz="900" dirty="0"/>
          </a:p>
        </p:txBody>
      </p:sp>
      <p:sp>
        <p:nvSpPr>
          <p:cNvPr id="11" name="Text 9"/>
          <p:cNvSpPr/>
          <p:nvPr/>
        </p:nvSpPr>
        <p:spPr>
          <a:xfrm>
            <a:off x="2926080" y="1755648"/>
            <a:ext cx="301752" cy="347472"/>
          </a:xfrm>
          <a:prstGeom prst="rect">
            <a:avLst/>
          </a:prstGeom>
          <a:noFill/>
        </p:spPr>
        <p:txBody>
          <a:bodyPr wrap="square" lIns="0" tIns="0" rIns="0" bIns="0" rtlCol="0" anchor="ctr"/>
          <a:lstStyle/>
          <a:p>
            <a:pPr marL="0" indent="0" algn="ctr">
              <a:buNone/>
            </a:pPr>
            <a:r>
              <a:rPr lang="en-US" sz="1800" dirty="0">
                <a:solidFill>
                  <a:srgbClr val="A9B8C3"/>
                </a:solidFill>
              </a:rPr>
              <a:t>→</a:t>
            </a:r>
            <a:endParaRPr lang="en-US" sz="1800" dirty="0"/>
          </a:p>
        </p:txBody>
      </p:sp>
      <p:sp>
        <p:nvSpPr>
          <p:cNvPr id="12" name="Shape 10"/>
          <p:cNvSpPr/>
          <p:nvPr/>
        </p:nvSpPr>
        <p:spPr>
          <a:xfrm>
            <a:off x="3227832"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13" name="Shape 11"/>
          <p:cNvSpPr/>
          <p:nvPr/>
        </p:nvSpPr>
        <p:spPr>
          <a:xfrm>
            <a:off x="3227832" y="1115568"/>
            <a:ext cx="2606040" cy="91440"/>
          </a:xfrm>
          <a:prstGeom prst="rect">
            <a:avLst/>
          </a:prstGeom>
          <a:solidFill>
            <a:srgbClr val="58B9DA"/>
          </a:solidFill>
          <a:ln w="12700">
            <a:solidFill>
              <a:srgbClr val="58B9DA"/>
            </a:solidFill>
            <a:prstDash val="solid"/>
          </a:ln>
        </p:spPr>
      </p:sp>
      <p:sp>
        <p:nvSpPr>
          <p:cNvPr id="14" name="Shape 12"/>
          <p:cNvSpPr/>
          <p:nvPr/>
        </p:nvSpPr>
        <p:spPr>
          <a:xfrm>
            <a:off x="3337560" y="1207008"/>
            <a:ext cx="347472" cy="347472"/>
          </a:xfrm>
          <a:prstGeom prst="ellipse">
            <a:avLst/>
          </a:prstGeom>
          <a:solidFill>
            <a:srgbClr val="58B9DA"/>
          </a:solidFill>
          <a:ln w="12700">
            <a:solidFill>
              <a:srgbClr val="58B9DA"/>
            </a:solidFill>
            <a:prstDash val="solid"/>
          </a:ln>
        </p:spPr>
      </p:sp>
      <p:sp>
        <p:nvSpPr>
          <p:cNvPr id="15" name="Text 13"/>
          <p:cNvSpPr/>
          <p:nvPr/>
        </p:nvSpPr>
        <p:spPr>
          <a:xfrm>
            <a:off x="3337560"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6" name="Text 14"/>
          <p:cNvSpPr/>
          <p:nvPr/>
        </p:nvSpPr>
        <p:spPr>
          <a:xfrm>
            <a:off x="3776472" y="1188720"/>
            <a:ext cx="1920240" cy="347472"/>
          </a:xfrm>
          <a:prstGeom prst="rect">
            <a:avLst/>
          </a:prstGeom>
          <a:noFill/>
        </p:spPr>
        <p:txBody>
          <a:bodyPr wrap="square" lIns="0" tIns="0" rIns="0" bIns="0" rtlCol="0" anchor="ctr"/>
          <a:lstStyle/>
          <a:p>
            <a:pPr marL="0" indent="0">
              <a:buNone/>
            </a:pPr>
            <a:r>
              <a:rPr lang="en-US" sz="1100" b="1" dirty="0">
                <a:solidFill>
                  <a:srgbClr val="58B9DA"/>
                </a:solidFill>
                <a:latin typeface="Calibri" panose="020F0502020204030204" pitchFamily="34" charset="0"/>
                <a:ea typeface="Calibri" panose="020F0502020204030204" pitchFamily="34" charset="-122"/>
                <a:cs typeface="Calibri" panose="020F0502020204030204" pitchFamily="34" charset="-120"/>
              </a:rPr>
              <a:t>Noise Removal</a:t>
            </a:r>
            <a:endParaRPr lang="en-US" sz="1100" dirty="0"/>
          </a:p>
        </p:txBody>
      </p:sp>
      <p:sp>
        <p:nvSpPr>
          <p:cNvPr id="17" name="Text 15"/>
          <p:cNvSpPr/>
          <p:nvPr/>
        </p:nvSpPr>
        <p:spPr>
          <a:xfrm>
            <a:off x="3337560"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Smoothing / band-pass filter.</a:t>
            </a:r>
            <a:endParaRPr lang="en-US" sz="900" dirty="0"/>
          </a:p>
          <a:p>
            <a:pPr marL="0" indent="0">
              <a:buNone/>
            </a:pPr>
            <a:endParaRPr lang="en-US" sz="900" dirty="0"/>
          </a:p>
        </p:txBody>
      </p:sp>
      <p:sp>
        <p:nvSpPr>
          <p:cNvPr id="18" name="Text 16"/>
          <p:cNvSpPr/>
          <p:nvPr/>
        </p:nvSpPr>
        <p:spPr>
          <a:xfrm>
            <a:off x="5833872" y="1755648"/>
            <a:ext cx="301752" cy="347472"/>
          </a:xfrm>
          <a:prstGeom prst="rect">
            <a:avLst/>
          </a:prstGeom>
          <a:noFill/>
        </p:spPr>
        <p:txBody>
          <a:bodyPr wrap="square" lIns="0" tIns="0" rIns="0" bIns="0" rtlCol="0" anchor="ctr"/>
          <a:lstStyle/>
          <a:p>
            <a:pPr marL="0" indent="0" algn="ctr">
              <a:buNone/>
            </a:pPr>
            <a:r>
              <a:rPr lang="en-US" sz="1800" dirty="0">
                <a:solidFill>
                  <a:srgbClr val="A9B8C3"/>
                </a:solidFill>
              </a:rPr>
              <a:t>→</a:t>
            </a:r>
            <a:endParaRPr lang="en-US" sz="1800" dirty="0"/>
          </a:p>
        </p:txBody>
      </p:sp>
      <p:sp>
        <p:nvSpPr>
          <p:cNvPr id="19" name="Shape 17"/>
          <p:cNvSpPr/>
          <p:nvPr/>
        </p:nvSpPr>
        <p:spPr>
          <a:xfrm>
            <a:off x="6135624"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20" name="Shape 18"/>
          <p:cNvSpPr/>
          <p:nvPr/>
        </p:nvSpPr>
        <p:spPr>
          <a:xfrm>
            <a:off x="6135624" y="1115568"/>
            <a:ext cx="2606040" cy="91440"/>
          </a:xfrm>
          <a:prstGeom prst="rect">
            <a:avLst/>
          </a:prstGeom>
          <a:solidFill>
            <a:srgbClr val="58B9DA"/>
          </a:solidFill>
          <a:ln w="12700">
            <a:solidFill>
              <a:srgbClr val="58B9DA"/>
            </a:solidFill>
            <a:prstDash val="solid"/>
          </a:ln>
        </p:spPr>
      </p:sp>
      <p:sp>
        <p:nvSpPr>
          <p:cNvPr id="21" name="Shape 19"/>
          <p:cNvSpPr/>
          <p:nvPr/>
        </p:nvSpPr>
        <p:spPr>
          <a:xfrm>
            <a:off x="6245352" y="1207008"/>
            <a:ext cx="347472" cy="347472"/>
          </a:xfrm>
          <a:prstGeom prst="ellipse">
            <a:avLst/>
          </a:prstGeom>
          <a:solidFill>
            <a:srgbClr val="58B9DA"/>
          </a:solidFill>
          <a:ln w="12700">
            <a:solidFill>
              <a:srgbClr val="58B9DA"/>
            </a:solidFill>
            <a:prstDash val="solid"/>
          </a:ln>
        </p:spPr>
      </p:sp>
      <p:sp>
        <p:nvSpPr>
          <p:cNvPr id="22" name="Text 20"/>
          <p:cNvSpPr/>
          <p:nvPr/>
        </p:nvSpPr>
        <p:spPr>
          <a:xfrm>
            <a:off x="6245352"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Text 21"/>
          <p:cNvSpPr/>
          <p:nvPr/>
        </p:nvSpPr>
        <p:spPr>
          <a:xfrm>
            <a:off x="6684264" y="1188720"/>
            <a:ext cx="1920240" cy="347472"/>
          </a:xfrm>
          <a:prstGeom prst="rect">
            <a:avLst/>
          </a:prstGeom>
          <a:noFill/>
        </p:spPr>
        <p:txBody>
          <a:bodyPr wrap="square" lIns="0" tIns="0" rIns="0" bIns="0" rtlCol="0" anchor="ctr"/>
          <a:lstStyle/>
          <a:p>
            <a:pPr marL="0" indent="0">
              <a:buNone/>
            </a:pPr>
            <a:r>
              <a:rPr lang="en-US" sz="1100" b="1" dirty="0">
                <a:solidFill>
                  <a:srgbClr val="58B9DA"/>
                </a:solidFill>
                <a:latin typeface="Calibri" panose="020F0502020204030204" pitchFamily="34" charset="0"/>
                <a:ea typeface="Calibri" panose="020F0502020204030204" pitchFamily="34" charset="-122"/>
                <a:cs typeface="Calibri" panose="020F0502020204030204" pitchFamily="34" charset="-120"/>
              </a:rPr>
              <a:t>Feature Selection</a:t>
            </a:r>
            <a:endParaRPr lang="en-US" sz="1100" dirty="0"/>
          </a:p>
        </p:txBody>
      </p:sp>
      <p:sp>
        <p:nvSpPr>
          <p:cNvPr id="24" name="Text 22"/>
          <p:cNvSpPr/>
          <p:nvPr/>
        </p:nvSpPr>
        <p:spPr>
          <a:xfrm>
            <a:off x="6245352"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Keep top-k most discriminative raw features.</a:t>
            </a:r>
            <a:endParaRPr lang="en-US" sz="900" dirty="0"/>
          </a:p>
        </p:txBody>
      </p:sp>
      <p:sp>
        <p:nvSpPr>
          <p:cNvPr id="25" name="Shape 23"/>
          <p:cNvSpPr/>
          <p:nvPr/>
        </p:nvSpPr>
        <p:spPr>
          <a:xfrm>
            <a:off x="320040" y="2916936"/>
            <a:ext cx="2606040" cy="457200"/>
          </a:xfrm>
          <a:prstGeom prst="rect">
            <a:avLst/>
          </a:prstGeom>
          <a:solidFill>
            <a:srgbClr val="EAF6FC"/>
          </a:solidFill>
          <a:ln w="6350">
            <a:solidFill>
              <a:srgbClr val="58B9DA"/>
            </a:solidFill>
            <a:prstDash val="solid"/>
          </a:ln>
        </p:spPr>
      </p:sp>
      <p:sp>
        <p:nvSpPr>
          <p:cNvPr id="26" name="Text 24"/>
          <p:cNvSpPr/>
          <p:nvPr/>
        </p:nvSpPr>
        <p:spPr>
          <a:xfrm>
            <a:off x="320040" y="2916936"/>
            <a:ext cx="2606040" cy="457200"/>
          </a:xfrm>
          <a:prstGeom prst="rect">
            <a:avLst/>
          </a:prstGeom>
          <a:noFill/>
        </p:spPr>
        <p:txBody>
          <a:bodyPr wrap="square" lIns="0" tIns="0" rIns="0" bIns="0" rtlCol="0" anchor="ctr"/>
          <a:lstStyle/>
          <a:p>
            <a:pPr marL="0" indent="0" algn="ctr">
              <a:buNone/>
            </a:pPr>
            <a:r>
              <a:rPr lang="en-US" sz="950" b="1" dirty="0">
                <a:solidFill>
                  <a:srgbClr val="58B9DA"/>
                </a:solidFill>
              </a:rPr>
              <a:t>df1: 50 features selected</a:t>
            </a:r>
            <a:endParaRPr lang="en-US" sz="950" dirty="0"/>
          </a:p>
        </p:txBody>
      </p:sp>
      <p:sp>
        <p:nvSpPr>
          <p:cNvPr id="27" name="Shape 25"/>
          <p:cNvSpPr/>
          <p:nvPr/>
        </p:nvSpPr>
        <p:spPr>
          <a:xfrm>
            <a:off x="3227832" y="2916936"/>
            <a:ext cx="2606040" cy="457200"/>
          </a:xfrm>
          <a:prstGeom prst="rect">
            <a:avLst/>
          </a:prstGeom>
          <a:solidFill>
            <a:srgbClr val="EAF6FC"/>
          </a:solidFill>
          <a:ln w="6350">
            <a:solidFill>
              <a:srgbClr val="58B9DA"/>
            </a:solidFill>
            <a:prstDash val="solid"/>
          </a:ln>
        </p:spPr>
      </p:sp>
      <p:sp>
        <p:nvSpPr>
          <p:cNvPr id="28" name="Text 26"/>
          <p:cNvSpPr/>
          <p:nvPr/>
        </p:nvSpPr>
        <p:spPr>
          <a:xfrm>
            <a:off x="3227832" y="2916936"/>
            <a:ext cx="2606040" cy="457200"/>
          </a:xfrm>
          <a:prstGeom prst="rect">
            <a:avLst/>
          </a:prstGeom>
          <a:noFill/>
        </p:spPr>
        <p:txBody>
          <a:bodyPr wrap="square" lIns="0" tIns="0" rIns="0" bIns="0" rtlCol="0" anchor="ctr"/>
          <a:lstStyle/>
          <a:p>
            <a:pPr marL="0" indent="0" algn="ctr">
              <a:buNone/>
            </a:pPr>
            <a:r>
              <a:rPr lang="en-US" sz="950" b="1" dirty="0">
                <a:solidFill>
                  <a:srgbClr val="58B9DA"/>
                </a:solidFill>
              </a:rPr>
              <a:t>df2: 10 features selected</a:t>
            </a:r>
            <a:endParaRPr lang="en-US" sz="950" dirty="0"/>
          </a:p>
        </p:txBody>
      </p:sp>
      <p:sp>
        <p:nvSpPr>
          <p:cNvPr id="29" name="Shape 27"/>
          <p:cNvSpPr/>
          <p:nvPr/>
        </p:nvSpPr>
        <p:spPr>
          <a:xfrm>
            <a:off x="6135624" y="2916936"/>
            <a:ext cx="2606040" cy="457200"/>
          </a:xfrm>
          <a:prstGeom prst="rect">
            <a:avLst/>
          </a:prstGeom>
          <a:solidFill>
            <a:srgbClr val="EAF6FC"/>
          </a:solidFill>
          <a:ln w="6350">
            <a:solidFill>
              <a:srgbClr val="58B9DA"/>
            </a:solidFill>
            <a:prstDash val="solid"/>
          </a:ln>
        </p:spPr>
      </p:sp>
      <p:sp>
        <p:nvSpPr>
          <p:cNvPr id="30" name="Text 28"/>
          <p:cNvSpPr/>
          <p:nvPr/>
        </p:nvSpPr>
        <p:spPr>
          <a:xfrm>
            <a:off x="6135624" y="2916936"/>
            <a:ext cx="2606040" cy="457200"/>
          </a:xfrm>
          <a:prstGeom prst="rect">
            <a:avLst/>
          </a:prstGeom>
          <a:noFill/>
        </p:spPr>
        <p:txBody>
          <a:bodyPr wrap="square" lIns="0" tIns="0" rIns="0" bIns="0" rtlCol="0" anchor="ctr"/>
          <a:lstStyle/>
          <a:p>
            <a:pPr marL="0" indent="0" algn="ctr">
              <a:buNone/>
            </a:pPr>
            <a:r>
              <a:rPr lang="en-US" sz="950" b="1" dirty="0">
                <a:solidFill>
                  <a:srgbClr val="58B9DA"/>
                </a:solidFill>
              </a:rPr>
              <a:t>df3: 100 features selected</a:t>
            </a:r>
            <a:endParaRPr lang="en-US" sz="950" dirty="0"/>
          </a:p>
        </p:txBody>
      </p:sp>
      <p:sp>
        <p:nvSpPr>
          <p:cNvPr id="31" name="Text 29"/>
          <p:cNvSpPr/>
          <p:nvPr/>
        </p:nvSpPr>
        <p:spPr>
          <a:xfrm>
            <a:off x="320040" y="3520440"/>
            <a:ext cx="8503920" cy="256032"/>
          </a:xfrm>
          <a:prstGeom prst="rect">
            <a:avLst/>
          </a:prstGeom>
          <a:noFill/>
        </p:spPr>
        <p:txBody>
          <a:bodyPr wrap="square" lIns="0" tIns="0" rIns="0" bIns="0" rtlCol="0" anchor="ctr"/>
          <a:lstStyle/>
          <a:p>
            <a:pPr marL="0" indent="0">
              <a:buNone/>
            </a:pPr>
            <a:r>
              <a:rPr lang="en-US" sz="1000" b="1" dirty="0">
                <a:solidFill>
                  <a:srgbClr val="1E2A32"/>
                </a:solidFill>
              </a:rPr>
              <a:t>Data Example — what a single sample looks like at each step</a:t>
            </a:r>
            <a:endParaRPr lang="en-US" sz="1000" dirty="0"/>
          </a:p>
        </p:txBody>
      </p:sp>
      <p:sp>
        <p:nvSpPr>
          <p:cNvPr id="32" name="Shape 30"/>
          <p:cNvSpPr/>
          <p:nvPr/>
        </p:nvSpPr>
        <p:spPr>
          <a:xfrm>
            <a:off x="320040" y="3822192"/>
            <a:ext cx="2011680" cy="1170432"/>
          </a:xfrm>
          <a:prstGeom prst="rect">
            <a:avLst/>
          </a:prstGeom>
          <a:solidFill>
            <a:srgbClr val="F4F8FB"/>
          </a:solidFill>
          <a:ln w="6350">
            <a:solidFill>
              <a:srgbClr val="D0DCE6"/>
            </a:solidFill>
            <a:prstDash val="solid"/>
          </a:ln>
        </p:spPr>
      </p:sp>
      <p:sp>
        <p:nvSpPr>
          <p:cNvPr id="33" name="Shape 31"/>
          <p:cNvSpPr/>
          <p:nvPr/>
        </p:nvSpPr>
        <p:spPr>
          <a:xfrm>
            <a:off x="320040" y="3822192"/>
            <a:ext cx="2011680" cy="54864"/>
          </a:xfrm>
          <a:prstGeom prst="rect">
            <a:avLst/>
          </a:prstGeom>
          <a:solidFill>
            <a:srgbClr val="58B9DA"/>
          </a:solidFill>
          <a:ln w="12700">
            <a:solidFill>
              <a:srgbClr val="58B9DA"/>
            </a:solidFill>
            <a:prstDash val="solid"/>
          </a:ln>
        </p:spPr>
      </p:sp>
      <p:sp>
        <p:nvSpPr>
          <p:cNvPr id="34" name="Text 32"/>
          <p:cNvSpPr/>
          <p:nvPr/>
        </p:nvSpPr>
        <p:spPr>
          <a:xfrm>
            <a:off x="374904" y="3858768"/>
            <a:ext cx="1901952" cy="347472"/>
          </a:xfrm>
          <a:prstGeom prst="rect">
            <a:avLst/>
          </a:prstGeom>
          <a:noFill/>
        </p:spPr>
        <p:txBody>
          <a:bodyPr wrap="square" lIns="0" tIns="0" rIns="0" bIns="0" rtlCol="0" anchor="ctr"/>
          <a:lstStyle/>
          <a:p>
            <a:pPr marL="0" indent="0">
              <a:buNone/>
            </a:pPr>
            <a:r>
              <a:rPr lang="en-US" sz="750" b="1" dirty="0">
                <a:solidFill>
                  <a:srgbClr val="58B9DA"/>
                </a:solidFill>
              </a:rPr>
              <a:t>RAW INPUT</a:t>
            </a:r>
            <a:endParaRPr lang="en-US" sz="750" dirty="0"/>
          </a:p>
          <a:p>
            <a:pPr marL="0" indent="0">
              <a:buNone/>
            </a:pPr>
            <a:r>
              <a:rPr lang="en-US" sz="750" b="1" dirty="0">
                <a:solidFill>
                  <a:srgbClr val="58B9DA"/>
                </a:solidFill>
              </a:rPr>
              <a:t>(178 features)</a:t>
            </a:r>
            <a:endParaRPr lang="en-US" sz="750" dirty="0"/>
          </a:p>
        </p:txBody>
      </p:sp>
      <p:sp>
        <p:nvSpPr>
          <p:cNvPr id="35" name="Text 33"/>
          <p:cNvSpPr/>
          <p:nvPr/>
        </p:nvSpPr>
        <p:spPr>
          <a:xfrm>
            <a:off x="374904"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[0.23, −1.4, 0.87, 3.1, −0.6 … 178 values]</a:t>
            </a:r>
            <a:endParaRPr lang="en-US" sz="750" dirty="0"/>
          </a:p>
          <a:p>
            <a:pPr marL="0" indent="0">
              <a:buNone/>
            </a:pPr>
            <a:r>
              <a:rPr lang="en-US" sz="750" dirty="0">
                <a:solidFill>
                  <a:srgbClr val="1E2A32"/>
                </a:solidFill>
              </a:rPr>
              <a:t>Amplitudes vary wildly across channels (mV scale differs)</a:t>
            </a:r>
            <a:endParaRPr lang="en-US" sz="750" dirty="0"/>
          </a:p>
        </p:txBody>
      </p:sp>
      <p:sp>
        <p:nvSpPr>
          <p:cNvPr id="36" name="Text 34"/>
          <p:cNvSpPr/>
          <p:nvPr/>
        </p:nvSpPr>
        <p:spPr>
          <a:xfrm>
            <a:off x="2331720"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37" name="Shape 35"/>
          <p:cNvSpPr/>
          <p:nvPr/>
        </p:nvSpPr>
        <p:spPr>
          <a:xfrm>
            <a:off x="2496312" y="3822192"/>
            <a:ext cx="2011680" cy="1170432"/>
          </a:xfrm>
          <a:prstGeom prst="rect">
            <a:avLst/>
          </a:prstGeom>
          <a:solidFill>
            <a:srgbClr val="F4F8FB"/>
          </a:solidFill>
          <a:ln w="6350">
            <a:solidFill>
              <a:srgbClr val="D0DCE6"/>
            </a:solidFill>
            <a:prstDash val="solid"/>
          </a:ln>
        </p:spPr>
      </p:sp>
      <p:sp>
        <p:nvSpPr>
          <p:cNvPr id="38" name="Shape 36"/>
          <p:cNvSpPr/>
          <p:nvPr/>
        </p:nvSpPr>
        <p:spPr>
          <a:xfrm>
            <a:off x="2496312" y="3822192"/>
            <a:ext cx="2011680" cy="54864"/>
          </a:xfrm>
          <a:prstGeom prst="rect">
            <a:avLst/>
          </a:prstGeom>
          <a:solidFill>
            <a:srgbClr val="58B9DA"/>
          </a:solidFill>
          <a:ln w="12700">
            <a:solidFill>
              <a:srgbClr val="58B9DA"/>
            </a:solidFill>
            <a:prstDash val="solid"/>
          </a:ln>
        </p:spPr>
      </p:sp>
      <p:sp>
        <p:nvSpPr>
          <p:cNvPr id="39" name="Text 37"/>
          <p:cNvSpPr/>
          <p:nvPr/>
        </p:nvSpPr>
        <p:spPr>
          <a:xfrm>
            <a:off x="2551176" y="3858768"/>
            <a:ext cx="1901952" cy="347472"/>
          </a:xfrm>
          <a:prstGeom prst="rect">
            <a:avLst/>
          </a:prstGeom>
          <a:noFill/>
        </p:spPr>
        <p:txBody>
          <a:bodyPr wrap="square" lIns="0" tIns="0" rIns="0" bIns="0" rtlCol="0" anchor="ctr"/>
          <a:lstStyle/>
          <a:p>
            <a:pPr marL="0" indent="0">
              <a:buNone/>
            </a:pPr>
            <a:r>
              <a:rPr lang="en-US" sz="750" b="1" dirty="0">
                <a:solidFill>
                  <a:srgbClr val="58B9DA"/>
                </a:solidFill>
              </a:rPr>
              <a:t>AFTER</a:t>
            </a:r>
            <a:endParaRPr lang="en-US" sz="750" dirty="0"/>
          </a:p>
          <a:p>
            <a:pPr marL="0" indent="0">
              <a:buNone/>
            </a:pPr>
            <a:r>
              <a:rPr lang="en-US" sz="750" b="1" dirty="0">
                <a:solidFill>
                  <a:srgbClr val="58B9DA"/>
                </a:solidFill>
              </a:rPr>
              <a:t>NORMALISATION</a:t>
            </a:r>
            <a:endParaRPr lang="en-US" sz="750" dirty="0"/>
          </a:p>
        </p:txBody>
      </p:sp>
      <p:sp>
        <p:nvSpPr>
          <p:cNvPr id="40" name="Text 38"/>
          <p:cNvSpPr/>
          <p:nvPr/>
        </p:nvSpPr>
        <p:spPr>
          <a:xfrm>
            <a:off x="2551176"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[0.48, 0.02, 0.62, 1.00, 0.27 … all in [0,1]]</a:t>
            </a:r>
            <a:endParaRPr lang="en-US" sz="750" dirty="0"/>
          </a:p>
          <a:p>
            <a:pPr marL="0" indent="0">
              <a:buNone/>
            </a:pPr>
            <a:r>
              <a:rPr lang="en-US" sz="750" dirty="0">
                <a:solidFill>
                  <a:srgbClr val="1E2A32"/>
                </a:solidFill>
              </a:rPr>
              <a:t>All channels now on the same scale</a:t>
            </a:r>
            <a:endParaRPr lang="en-US" sz="750" dirty="0"/>
          </a:p>
        </p:txBody>
      </p:sp>
      <p:sp>
        <p:nvSpPr>
          <p:cNvPr id="41" name="Text 39"/>
          <p:cNvSpPr/>
          <p:nvPr/>
        </p:nvSpPr>
        <p:spPr>
          <a:xfrm>
            <a:off x="4507992"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42" name="Shape 40"/>
          <p:cNvSpPr/>
          <p:nvPr/>
        </p:nvSpPr>
        <p:spPr>
          <a:xfrm>
            <a:off x="4672584" y="3822192"/>
            <a:ext cx="2011680" cy="1170432"/>
          </a:xfrm>
          <a:prstGeom prst="rect">
            <a:avLst/>
          </a:prstGeom>
          <a:solidFill>
            <a:srgbClr val="F4F8FB"/>
          </a:solidFill>
          <a:ln w="6350">
            <a:solidFill>
              <a:srgbClr val="D0DCE6"/>
            </a:solidFill>
            <a:prstDash val="solid"/>
          </a:ln>
        </p:spPr>
      </p:sp>
      <p:sp>
        <p:nvSpPr>
          <p:cNvPr id="43" name="Shape 41"/>
          <p:cNvSpPr/>
          <p:nvPr/>
        </p:nvSpPr>
        <p:spPr>
          <a:xfrm>
            <a:off x="4672584" y="3822192"/>
            <a:ext cx="2011680" cy="54864"/>
          </a:xfrm>
          <a:prstGeom prst="rect">
            <a:avLst/>
          </a:prstGeom>
          <a:solidFill>
            <a:srgbClr val="58B9DA"/>
          </a:solidFill>
          <a:ln w="12700">
            <a:solidFill>
              <a:srgbClr val="58B9DA"/>
            </a:solidFill>
            <a:prstDash val="solid"/>
          </a:ln>
        </p:spPr>
      </p:sp>
      <p:sp>
        <p:nvSpPr>
          <p:cNvPr id="44" name="Text 42"/>
          <p:cNvSpPr/>
          <p:nvPr/>
        </p:nvSpPr>
        <p:spPr>
          <a:xfrm>
            <a:off x="4727448" y="3858768"/>
            <a:ext cx="1901952" cy="347472"/>
          </a:xfrm>
          <a:prstGeom prst="rect">
            <a:avLst/>
          </a:prstGeom>
          <a:noFill/>
        </p:spPr>
        <p:txBody>
          <a:bodyPr wrap="square" lIns="0" tIns="0" rIns="0" bIns="0" rtlCol="0" anchor="ctr"/>
          <a:lstStyle/>
          <a:p>
            <a:pPr marL="0" indent="0">
              <a:buNone/>
            </a:pPr>
            <a:r>
              <a:rPr lang="en-US" sz="750" b="1" dirty="0">
                <a:solidFill>
                  <a:srgbClr val="58B9DA"/>
                </a:solidFill>
              </a:rPr>
              <a:t>AFTER NOISE</a:t>
            </a:r>
            <a:endParaRPr lang="en-US" sz="750" dirty="0"/>
          </a:p>
          <a:p>
            <a:pPr marL="0" indent="0">
              <a:buNone/>
            </a:pPr>
            <a:r>
              <a:rPr lang="en-US" sz="750" b="1" dirty="0">
                <a:solidFill>
                  <a:srgbClr val="58B9DA"/>
                </a:solidFill>
              </a:rPr>
              <a:t>REMOVAL</a:t>
            </a:r>
            <a:endParaRPr lang="en-US" sz="750" dirty="0"/>
          </a:p>
        </p:txBody>
      </p:sp>
      <p:sp>
        <p:nvSpPr>
          <p:cNvPr id="45" name="Text 43"/>
          <p:cNvSpPr/>
          <p:nvPr/>
        </p:nvSpPr>
        <p:spPr>
          <a:xfrm>
            <a:off x="4727448"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[0.47, 0.04, 0.60, 0.95, 0.29 …]</a:t>
            </a:r>
            <a:endParaRPr lang="en-US" sz="750" dirty="0"/>
          </a:p>
          <a:p>
            <a:pPr marL="0" indent="0">
              <a:buNone/>
            </a:pPr>
            <a:r>
              <a:rPr lang="en-US" sz="750" dirty="0">
                <a:solidFill>
                  <a:srgbClr val="1E2A32"/>
                </a:solidFill>
              </a:rPr>
              <a:t>High-frequency spikes smoothed; signal shape preserved</a:t>
            </a:r>
            <a:endParaRPr lang="en-US" sz="750" dirty="0"/>
          </a:p>
        </p:txBody>
      </p:sp>
      <p:sp>
        <p:nvSpPr>
          <p:cNvPr id="46" name="Text 44"/>
          <p:cNvSpPr/>
          <p:nvPr/>
        </p:nvSpPr>
        <p:spPr>
          <a:xfrm>
            <a:off x="6684264"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47" name="Shape 45"/>
          <p:cNvSpPr/>
          <p:nvPr/>
        </p:nvSpPr>
        <p:spPr>
          <a:xfrm>
            <a:off x="6848856" y="3822192"/>
            <a:ext cx="2011680" cy="1170432"/>
          </a:xfrm>
          <a:prstGeom prst="rect">
            <a:avLst/>
          </a:prstGeom>
          <a:solidFill>
            <a:srgbClr val="F4F8FB"/>
          </a:solidFill>
          <a:ln w="6350">
            <a:solidFill>
              <a:srgbClr val="D0DCE6"/>
            </a:solidFill>
            <a:prstDash val="solid"/>
          </a:ln>
        </p:spPr>
      </p:sp>
      <p:sp>
        <p:nvSpPr>
          <p:cNvPr id="48" name="Shape 46"/>
          <p:cNvSpPr/>
          <p:nvPr/>
        </p:nvSpPr>
        <p:spPr>
          <a:xfrm>
            <a:off x="6848856" y="3822192"/>
            <a:ext cx="2011680" cy="54864"/>
          </a:xfrm>
          <a:prstGeom prst="rect">
            <a:avLst/>
          </a:prstGeom>
          <a:solidFill>
            <a:srgbClr val="58B9DA"/>
          </a:solidFill>
          <a:ln w="12700">
            <a:solidFill>
              <a:srgbClr val="58B9DA"/>
            </a:solidFill>
            <a:prstDash val="solid"/>
          </a:ln>
        </p:spPr>
      </p:sp>
      <p:sp>
        <p:nvSpPr>
          <p:cNvPr id="49" name="Text 47"/>
          <p:cNvSpPr/>
          <p:nvPr/>
        </p:nvSpPr>
        <p:spPr>
          <a:xfrm>
            <a:off x="6903720" y="3858768"/>
            <a:ext cx="1901952" cy="347472"/>
          </a:xfrm>
          <a:prstGeom prst="rect">
            <a:avLst/>
          </a:prstGeom>
          <a:noFill/>
        </p:spPr>
        <p:txBody>
          <a:bodyPr wrap="square" lIns="0" tIns="0" rIns="0" bIns="0" rtlCol="0" anchor="ctr"/>
          <a:lstStyle/>
          <a:p>
            <a:pPr marL="0" indent="0">
              <a:buNone/>
            </a:pPr>
            <a:r>
              <a:rPr lang="en-US" sz="750" b="1" dirty="0">
                <a:solidFill>
                  <a:srgbClr val="58B9DA"/>
                </a:solidFill>
              </a:rPr>
              <a:t>AFTER FEATURE</a:t>
            </a:r>
            <a:endParaRPr lang="en-US" sz="750" dirty="0"/>
          </a:p>
          <a:p>
            <a:pPr marL="0" indent="0">
              <a:buNone/>
            </a:pPr>
            <a:r>
              <a:rPr lang="en-US" sz="750" b="1" dirty="0">
                <a:solidFill>
                  <a:srgbClr val="58B9DA"/>
                </a:solidFill>
              </a:rPr>
              <a:t>SELECTION (top 50)</a:t>
            </a:r>
            <a:endParaRPr lang="en-US" sz="750" dirty="0"/>
          </a:p>
        </p:txBody>
      </p:sp>
      <p:sp>
        <p:nvSpPr>
          <p:cNvPr id="50" name="Text 48"/>
          <p:cNvSpPr/>
          <p:nvPr/>
        </p:nvSpPr>
        <p:spPr>
          <a:xfrm>
            <a:off x="6903720"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[0.47, 0.60, 0.95 … 50 values]</a:t>
            </a:r>
            <a:endParaRPr lang="en-US" sz="750" dirty="0"/>
          </a:p>
          <a:p>
            <a:pPr marL="0" indent="0">
              <a:buNone/>
            </a:pPr>
            <a:r>
              <a:rPr lang="en-US" sz="750" dirty="0">
                <a:solidFill>
                  <a:srgbClr val="1E2A32"/>
                </a:solidFill>
              </a:rPr>
              <a:t>Only statistically discriminative features kept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DAC28"/>
          </a:solidFill>
          <a:ln w="12700">
            <a:solidFill>
              <a:srgbClr val="8DAC28"/>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  |  Pipeline B — Representation First</a:t>
            </a:r>
            <a:endParaRPr lang="en-US" sz="1900" dirty="0"/>
          </a:p>
        </p:txBody>
      </p:sp>
      <p:sp>
        <p:nvSpPr>
          <p:cNvPr id="4" name="Text 2"/>
          <p:cNvSpPr/>
          <p:nvPr/>
        </p:nvSpPr>
        <p:spPr>
          <a:xfrm>
            <a:off x="365760" y="749808"/>
            <a:ext cx="8412480" cy="274320"/>
          </a:xfrm>
          <a:prstGeom prst="rect">
            <a:avLst/>
          </a:prstGeom>
          <a:noFill/>
        </p:spPr>
        <p:txBody>
          <a:bodyPr wrap="square" lIns="0" tIns="0" rIns="0" bIns="0" rtlCol="0" anchor="ctr"/>
          <a:lstStyle/>
          <a:p>
            <a:pPr marL="0" indent="0">
              <a:buNone/>
            </a:pPr>
            <a:r>
              <a:rPr lang="en-US" sz="1050" i="1" dirty="0">
                <a:solidFill>
                  <a:srgbClr val="1E2A32"/>
                </a:solidFill>
                <a:latin typeface="Calibri" panose="020F0502020204030204" pitchFamily="34" charset="0"/>
                <a:ea typeface="Calibri" panose="020F0502020204030204" pitchFamily="34" charset="-122"/>
                <a:cs typeface="Calibri" panose="020F0502020204030204" pitchFamily="34" charset="-120"/>
              </a:rPr>
              <a:t>Philosophy: summarise the signal into meaningful statistics first, then compress with PCA.</a:t>
            </a:r>
            <a:endParaRPr lang="en-US" sz="1050" dirty="0"/>
          </a:p>
        </p:txBody>
      </p:sp>
      <p:sp>
        <p:nvSpPr>
          <p:cNvPr id="5" name="Shape 3"/>
          <p:cNvSpPr/>
          <p:nvPr/>
        </p:nvSpPr>
        <p:spPr>
          <a:xfrm>
            <a:off x="320040"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6" name="Shape 4"/>
          <p:cNvSpPr/>
          <p:nvPr/>
        </p:nvSpPr>
        <p:spPr>
          <a:xfrm>
            <a:off x="320040" y="1115568"/>
            <a:ext cx="2606040" cy="91440"/>
          </a:xfrm>
          <a:prstGeom prst="rect">
            <a:avLst/>
          </a:prstGeom>
          <a:solidFill>
            <a:srgbClr val="8DAC28"/>
          </a:solidFill>
          <a:ln w="12700">
            <a:solidFill>
              <a:srgbClr val="8DAC28"/>
            </a:solidFill>
            <a:prstDash val="solid"/>
          </a:ln>
        </p:spPr>
      </p:sp>
      <p:sp>
        <p:nvSpPr>
          <p:cNvPr id="7" name="Shape 5"/>
          <p:cNvSpPr/>
          <p:nvPr/>
        </p:nvSpPr>
        <p:spPr>
          <a:xfrm>
            <a:off x="429768" y="1207008"/>
            <a:ext cx="347472" cy="347472"/>
          </a:xfrm>
          <a:prstGeom prst="ellipse">
            <a:avLst/>
          </a:prstGeom>
          <a:solidFill>
            <a:srgbClr val="8DAC28"/>
          </a:solidFill>
          <a:ln w="12700">
            <a:solidFill>
              <a:srgbClr val="8DAC28"/>
            </a:solidFill>
            <a:prstDash val="solid"/>
          </a:ln>
        </p:spPr>
      </p:sp>
      <p:sp>
        <p:nvSpPr>
          <p:cNvPr id="8" name="Text 6"/>
          <p:cNvSpPr/>
          <p:nvPr/>
        </p:nvSpPr>
        <p:spPr>
          <a:xfrm>
            <a:off x="429768"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7"/>
          <p:cNvSpPr/>
          <p:nvPr/>
        </p:nvSpPr>
        <p:spPr>
          <a:xfrm>
            <a:off x="868680" y="1188720"/>
            <a:ext cx="1920240" cy="347472"/>
          </a:xfrm>
          <a:prstGeom prst="rect">
            <a:avLst/>
          </a:prstGeom>
          <a:noFill/>
        </p:spPr>
        <p:txBody>
          <a:bodyPr wrap="square" lIns="0" tIns="0" rIns="0" bIns="0" rtlCol="0" anchor="ctr"/>
          <a:lstStyle/>
          <a:p>
            <a:pPr marL="0" indent="0">
              <a:buNone/>
            </a:pPr>
            <a:r>
              <a:rPr lang="en-US" sz="1100" b="1" dirty="0">
                <a:solidFill>
                  <a:srgbClr val="8DAC28"/>
                </a:solidFill>
                <a:latin typeface="Calibri" panose="020F0502020204030204" pitchFamily="34" charset="0"/>
                <a:ea typeface="Calibri" panose="020F0502020204030204" pitchFamily="34" charset="-122"/>
                <a:cs typeface="Calibri" panose="020F0502020204030204" pitchFamily="34" charset="-120"/>
              </a:rPr>
              <a:t>Feature Extraction</a:t>
            </a:r>
            <a:endParaRPr lang="en-US" sz="1100" dirty="0"/>
          </a:p>
        </p:txBody>
      </p:sp>
      <p:sp>
        <p:nvSpPr>
          <p:cNvPr id="10" name="Text 8"/>
          <p:cNvSpPr/>
          <p:nvPr/>
        </p:nvSpPr>
        <p:spPr>
          <a:xfrm>
            <a:off x="429768"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Compute statistical descriptors per channel:</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mean, variance, skewness, kurtosis, zero-crossing rate.</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Converts raw waveform → compact numeric summary.</a:t>
            </a:r>
            <a:endParaRPr lang="en-US" sz="900" dirty="0"/>
          </a:p>
        </p:txBody>
      </p:sp>
      <p:sp>
        <p:nvSpPr>
          <p:cNvPr id="11" name="Text 9"/>
          <p:cNvSpPr/>
          <p:nvPr/>
        </p:nvSpPr>
        <p:spPr>
          <a:xfrm>
            <a:off x="2926080" y="1755648"/>
            <a:ext cx="301752" cy="347472"/>
          </a:xfrm>
          <a:prstGeom prst="rect">
            <a:avLst/>
          </a:prstGeom>
          <a:noFill/>
        </p:spPr>
        <p:txBody>
          <a:bodyPr wrap="square" lIns="0" tIns="0" rIns="0" bIns="0" rtlCol="0" anchor="ctr"/>
          <a:lstStyle/>
          <a:p>
            <a:pPr marL="0" indent="0" algn="ctr">
              <a:buNone/>
            </a:pPr>
            <a:r>
              <a:rPr lang="en-US" sz="1800" dirty="0">
                <a:solidFill>
                  <a:srgbClr val="A9B8C3"/>
                </a:solidFill>
              </a:rPr>
              <a:t>→</a:t>
            </a:r>
            <a:endParaRPr lang="en-US" sz="1800" dirty="0"/>
          </a:p>
        </p:txBody>
      </p:sp>
      <p:sp>
        <p:nvSpPr>
          <p:cNvPr id="12" name="Shape 10"/>
          <p:cNvSpPr/>
          <p:nvPr/>
        </p:nvSpPr>
        <p:spPr>
          <a:xfrm>
            <a:off x="3227832"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13" name="Shape 11"/>
          <p:cNvSpPr/>
          <p:nvPr/>
        </p:nvSpPr>
        <p:spPr>
          <a:xfrm>
            <a:off x="3227832" y="1115568"/>
            <a:ext cx="2606040" cy="91440"/>
          </a:xfrm>
          <a:prstGeom prst="rect">
            <a:avLst/>
          </a:prstGeom>
          <a:solidFill>
            <a:srgbClr val="8DAC28"/>
          </a:solidFill>
          <a:ln w="12700">
            <a:solidFill>
              <a:srgbClr val="8DAC28"/>
            </a:solidFill>
            <a:prstDash val="solid"/>
          </a:ln>
        </p:spPr>
      </p:sp>
      <p:sp>
        <p:nvSpPr>
          <p:cNvPr id="14" name="Shape 12"/>
          <p:cNvSpPr/>
          <p:nvPr/>
        </p:nvSpPr>
        <p:spPr>
          <a:xfrm>
            <a:off x="3337560" y="1207008"/>
            <a:ext cx="347472" cy="347472"/>
          </a:xfrm>
          <a:prstGeom prst="ellipse">
            <a:avLst/>
          </a:prstGeom>
          <a:solidFill>
            <a:srgbClr val="8DAC28"/>
          </a:solidFill>
          <a:ln w="12700">
            <a:solidFill>
              <a:srgbClr val="8DAC28"/>
            </a:solidFill>
            <a:prstDash val="solid"/>
          </a:ln>
        </p:spPr>
      </p:sp>
      <p:sp>
        <p:nvSpPr>
          <p:cNvPr id="15" name="Text 13"/>
          <p:cNvSpPr/>
          <p:nvPr/>
        </p:nvSpPr>
        <p:spPr>
          <a:xfrm>
            <a:off x="3337560"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6" name="Text 14"/>
          <p:cNvSpPr/>
          <p:nvPr/>
        </p:nvSpPr>
        <p:spPr>
          <a:xfrm>
            <a:off x="3776472" y="1188720"/>
            <a:ext cx="1920240" cy="347472"/>
          </a:xfrm>
          <a:prstGeom prst="rect">
            <a:avLst/>
          </a:prstGeom>
          <a:noFill/>
        </p:spPr>
        <p:txBody>
          <a:bodyPr wrap="square" lIns="0" tIns="0" rIns="0" bIns="0" rtlCol="0" anchor="ctr"/>
          <a:lstStyle/>
          <a:p>
            <a:pPr marL="0" indent="0">
              <a:buNone/>
            </a:pPr>
            <a:r>
              <a:rPr lang="en-US" sz="1100" b="1" dirty="0">
                <a:solidFill>
                  <a:srgbClr val="8DAC28"/>
                </a:solidFill>
                <a:latin typeface="Calibri" panose="020F0502020204030204" pitchFamily="34" charset="0"/>
                <a:ea typeface="Calibri" panose="020F0502020204030204" pitchFamily="34" charset="-122"/>
                <a:cs typeface="Calibri" panose="020F0502020204030204" pitchFamily="34" charset="-120"/>
              </a:rPr>
              <a:t>Standard Scaling</a:t>
            </a:r>
            <a:endParaRPr lang="en-US" sz="1100" dirty="0"/>
          </a:p>
        </p:txBody>
      </p:sp>
      <p:sp>
        <p:nvSpPr>
          <p:cNvPr id="17" name="Text 15"/>
          <p:cNvSpPr/>
          <p:nvPr/>
        </p:nvSpPr>
        <p:spPr>
          <a:xfrm>
            <a:off x="3337560"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Z-score: subtract mean, divide by std deviation.</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Ensures extracted features are comparable — mean=0, std=1.</a:t>
            </a:r>
            <a:endParaRPr lang="en-US" sz="900" dirty="0"/>
          </a:p>
        </p:txBody>
      </p:sp>
      <p:sp>
        <p:nvSpPr>
          <p:cNvPr id="18" name="Text 16"/>
          <p:cNvSpPr/>
          <p:nvPr/>
        </p:nvSpPr>
        <p:spPr>
          <a:xfrm>
            <a:off x="5833872" y="1755648"/>
            <a:ext cx="301752" cy="347472"/>
          </a:xfrm>
          <a:prstGeom prst="rect">
            <a:avLst/>
          </a:prstGeom>
          <a:noFill/>
        </p:spPr>
        <p:txBody>
          <a:bodyPr wrap="square" lIns="0" tIns="0" rIns="0" bIns="0" rtlCol="0" anchor="ctr"/>
          <a:lstStyle/>
          <a:p>
            <a:pPr marL="0" indent="0" algn="ctr">
              <a:buNone/>
            </a:pPr>
            <a:r>
              <a:rPr lang="en-US" sz="1800" dirty="0">
                <a:solidFill>
                  <a:srgbClr val="A9B8C3"/>
                </a:solidFill>
              </a:rPr>
              <a:t>→</a:t>
            </a:r>
            <a:endParaRPr lang="en-US" sz="1800" dirty="0"/>
          </a:p>
        </p:txBody>
      </p:sp>
      <p:sp>
        <p:nvSpPr>
          <p:cNvPr id="19" name="Shape 17"/>
          <p:cNvSpPr/>
          <p:nvPr/>
        </p:nvSpPr>
        <p:spPr>
          <a:xfrm>
            <a:off x="6135624" y="1115568"/>
            <a:ext cx="2606040" cy="169164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20" name="Shape 18"/>
          <p:cNvSpPr/>
          <p:nvPr/>
        </p:nvSpPr>
        <p:spPr>
          <a:xfrm>
            <a:off x="6135624" y="1115568"/>
            <a:ext cx="2606040" cy="91440"/>
          </a:xfrm>
          <a:prstGeom prst="rect">
            <a:avLst/>
          </a:prstGeom>
          <a:solidFill>
            <a:srgbClr val="8DAC28"/>
          </a:solidFill>
          <a:ln w="12700">
            <a:solidFill>
              <a:srgbClr val="8DAC28"/>
            </a:solidFill>
            <a:prstDash val="solid"/>
          </a:ln>
        </p:spPr>
      </p:sp>
      <p:sp>
        <p:nvSpPr>
          <p:cNvPr id="21" name="Shape 19"/>
          <p:cNvSpPr/>
          <p:nvPr/>
        </p:nvSpPr>
        <p:spPr>
          <a:xfrm>
            <a:off x="6245352" y="1207008"/>
            <a:ext cx="347472" cy="347472"/>
          </a:xfrm>
          <a:prstGeom prst="ellipse">
            <a:avLst/>
          </a:prstGeom>
          <a:solidFill>
            <a:srgbClr val="8DAC28"/>
          </a:solidFill>
          <a:ln w="12700">
            <a:solidFill>
              <a:srgbClr val="8DAC28"/>
            </a:solidFill>
            <a:prstDash val="solid"/>
          </a:ln>
        </p:spPr>
      </p:sp>
      <p:sp>
        <p:nvSpPr>
          <p:cNvPr id="22" name="Text 20"/>
          <p:cNvSpPr/>
          <p:nvPr/>
        </p:nvSpPr>
        <p:spPr>
          <a:xfrm>
            <a:off x="6245352" y="1207008"/>
            <a:ext cx="347472" cy="347472"/>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Text 21"/>
          <p:cNvSpPr/>
          <p:nvPr/>
        </p:nvSpPr>
        <p:spPr>
          <a:xfrm>
            <a:off x="6684264" y="1188720"/>
            <a:ext cx="1920240" cy="347472"/>
          </a:xfrm>
          <a:prstGeom prst="rect">
            <a:avLst/>
          </a:prstGeom>
          <a:noFill/>
        </p:spPr>
        <p:txBody>
          <a:bodyPr wrap="square" lIns="0" tIns="0" rIns="0" bIns="0" rtlCol="0" anchor="ctr"/>
          <a:lstStyle/>
          <a:p>
            <a:pPr marL="0" indent="0">
              <a:buNone/>
            </a:pPr>
            <a:r>
              <a:rPr lang="en-US" sz="1100" b="1" dirty="0">
                <a:solidFill>
                  <a:srgbClr val="8DAC28"/>
                </a:solidFill>
                <a:latin typeface="Calibri" panose="020F0502020204030204" pitchFamily="34" charset="0"/>
                <a:ea typeface="Calibri" panose="020F0502020204030204" pitchFamily="34" charset="-122"/>
                <a:cs typeface="Calibri" panose="020F0502020204030204" pitchFamily="34" charset="-120"/>
              </a:rPr>
              <a:t>PCA</a:t>
            </a:r>
            <a:endParaRPr lang="en-US" sz="1100" dirty="0"/>
          </a:p>
        </p:txBody>
      </p:sp>
      <p:sp>
        <p:nvSpPr>
          <p:cNvPr id="24" name="Text 22"/>
          <p:cNvSpPr/>
          <p:nvPr/>
        </p:nvSpPr>
        <p:spPr>
          <a:xfrm>
            <a:off x="6245352" y="1572768"/>
            <a:ext cx="2423160" cy="1143000"/>
          </a:xfrm>
          <a:prstGeom prst="rect">
            <a:avLst/>
          </a:prstGeom>
          <a:noFill/>
        </p:spPr>
        <p:txBody>
          <a:bodyPr wrap="square" lIns="0" tIns="0" rIns="0" bIns="0" rtlCol="0" anchor="ctr"/>
          <a:lstStyle/>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Principal Component Analysis.</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Projects data into orthogonal axes of maximum variance.</a:t>
            </a:r>
            <a:endParaRPr lang="en-US" sz="900" dirty="0"/>
          </a:p>
          <a:p>
            <a:pPr marL="0" indent="0">
              <a:buNone/>
            </a:pPr>
            <a:r>
              <a:rPr lang="en-US" sz="900" dirty="0">
                <a:solidFill>
                  <a:srgbClr val="1E2A32"/>
                </a:solidFill>
                <a:latin typeface="Calibri" panose="020F0502020204030204" pitchFamily="34" charset="0"/>
                <a:ea typeface="Calibri" panose="020F0502020204030204" pitchFamily="34" charset="-122"/>
                <a:cs typeface="Calibri" panose="020F0502020204030204" pitchFamily="34" charset="-120"/>
              </a:rPr>
              <a:t>Removes correlated redundancy.</a:t>
            </a:r>
            <a:endParaRPr lang="en-US" sz="900" dirty="0"/>
          </a:p>
        </p:txBody>
      </p:sp>
      <p:sp>
        <p:nvSpPr>
          <p:cNvPr id="25" name="Shape 23"/>
          <p:cNvSpPr/>
          <p:nvPr/>
        </p:nvSpPr>
        <p:spPr>
          <a:xfrm>
            <a:off x="320040" y="2916936"/>
            <a:ext cx="2606040" cy="457200"/>
          </a:xfrm>
          <a:prstGeom prst="rect">
            <a:avLst/>
          </a:prstGeom>
          <a:solidFill>
            <a:srgbClr val="F2F6E8"/>
          </a:solidFill>
          <a:ln w="6350">
            <a:solidFill>
              <a:srgbClr val="8DAC28"/>
            </a:solidFill>
            <a:prstDash val="solid"/>
          </a:ln>
        </p:spPr>
      </p:sp>
      <p:sp>
        <p:nvSpPr>
          <p:cNvPr id="26" name="Text 24"/>
          <p:cNvSpPr/>
          <p:nvPr/>
        </p:nvSpPr>
        <p:spPr>
          <a:xfrm>
            <a:off x="320040" y="2916936"/>
            <a:ext cx="2606040" cy="457200"/>
          </a:xfrm>
          <a:prstGeom prst="rect">
            <a:avLst/>
          </a:prstGeom>
          <a:noFill/>
        </p:spPr>
        <p:txBody>
          <a:bodyPr wrap="square" lIns="0" tIns="0" rIns="0" bIns="0" rtlCol="0" anchor="ctr"/>
          <a:lstStyle/>
          <a:p>
            <a:pPr marL="0" indent="0" algn="ctr">
              <a:buNone/>
            </a:pPr>
            <a:r>
              <a:rPr lang="en-US" sz="950" b="1" dirty="0">
                <a:solidFill>
                  <a:srgbClr val="8DAC28"/>
                </a:solidFill>
              </a:rPr>
              <a:t>df1: 50 PCA comps · 82.9% var</a:t>
            </a:r>
            <a:endParaRPr lang="en-US" sz="950" dirty="0"/>
          </a:p>
        </p:txBody>
      </p:sp>
      <p:sp>
        <p:nvSpPr>
          <p:cNvPr id="27" name="Shape 25"/>
          <p:cNvSpPr/>
          <p:nvPr/>
        </p:nvSpPr>
        <p:spPr>
          <a:xfrm>
            <a:off x="3227832" y="2916936"/>
            <a:ext cx="2606040" cy="457200"/>
          </a:xfrm>
          <a:prstGeom prst="rect">
            <a:avLst/>
          </a:prstGeom>
          <a:solidFill>
            <a:srgbClr val="F2F6E8"/>
          </a:solidFill>
          <a:ln w="6350">
            <a:solidFill>
              <a:srgbClr val="8DAC28"/>
            </a:solidFill>
            <a:prstDash val="solid"/>
          </a:ln>
        </p:spPr>
      </p:sp>
      <p:sp>
        <p:nvSpPr>
          <p:cNvPr id="28" name="Text 26"/>
          <p:cNvSpPr/>
          <p:nvPr/>
        </p:nvSpPr>
        <p:spPr>
          <a:xfrm>
            <a:off x="3227832" y="2916936"/>
            <a:ext cx="2606040" cy="457200"/>
          </a:xfrm>
          <a:prstGeom prst="rect">
            <a:avLst/>
          </a:prstGeom>
          <a:noFill/>
        </p:spPr>
        <p:txBody>
          <a:bodyPr wrap="square" lIns="0" tIns="0" rIns="0" bIns="0" rtlCol="0" anchor="ctr"/>
          <a:lstStyle/>
          <a:p>
            <a:pPr marL="0" indent="0" algn="ctr">
              <a:buNone/>
            </a:pPr>
            <a:r>
              <a:rPr lang="en-US" sz="950" b="1" dirty="0">
                <a:solidFill>
                  <a:srgbClr val="8DAC28"/>
                </a:solidFill>
              </a:rPr>
              <a:t>df2: 10 PCA comps · 92.9% var</a:t>
            </a:r>
            <a:endParaRPr lang="en-US" sz="950" dirty="0"/>
          </a:p>
        </p:txBody>
      </p:sp>
      <p:sp>
        <p:nvSpPr>
          <p:cNvPr id="29" name="Shape 27"/>
          <p:cNvSpPr/>
          <p:nvPr/>
        </p:nvSpPr>
        <p:spPr>
          <a:xfrm>
            <a:off x="6135624" y="2916936"/>
            <a:ext cx="2606040" cy="457200"/>
          </a:xfrm>
          <a:prstGeom prst="rect">
            <a:avLst/>
          </a:prstGeom>
          <a:solidFill>
            <a:srgbClr val="F2F6E8"/>
          </a:solidFill>
          <a:ln w="6350">
            <a:solidFill>
              <a:srgbClr val="8DAC28"/>
            </a:solidFill>
            <a:prstDash val="solid"/>
          </a:ln>
        </p:spPr>
      </p:sp>
      <p:sp>
        <p:nvSpPr>
          <p:cNvPr id="30" name="Text 28"/>
          <p:cNvSpPr/>
          <p:nvPr/>
        </p:nvSpPr>
        <p:spPr>
          <a:xfrm>
            <a:off x="6135624" y="2916936"/>
            <a:ext cx="2606040" cy="457200"/>
          </a:xfrm>
          <a:prstGeom prst="rect">
            <a:avLst/>
          </a:prstGeom>
          <a:noFill/>
        </p:spPr>
        <p:txBody>
          <a:bodyPr wrap="square" lIns="0" tIns="0" rIns="0" bIns="0" rtlCol="0" anchor="ctr"/>
          <a:lstStyle/>
          <a:p>
            <a:pPr marL="0" indent="0" algn="ctr">
              <a:buNone/>
            </a:pPr>
            <a:r>
              <a:rPr lang="en-US" sz="950" b="1" dirty="0">
                <a:solidFill>
                  <a:srgbClr val="8DAC28"/>
                </a:solidFill>
              </a:rPr>
              <a:t>df3: 100 PCA comps · 67.7% var</a:t>
            </a:r>
            <a:endParaRPr lang="en-US" sz="950" dirty="0"/>
          </a:p>
        </p:txBody>
      </p:sp>
      <p:sp>
        <p:nvSpPr>
          <p:cNvPr id="31" name="Text 29"/>
          <p:cNvSpPr/>
          <p:nvPr/>
        </p:nvSpPr>
        <p:spPr>
          <a:xfrm>
            <a:off x="320040" y="3520440"/>
            <a:ext cx="8503920" cy="256032"/>
          </a:xfrm>
          <a:prstGeom prst="rect">
            <a:avLst/>
          </a:prstGeom>
          <a:noFill/>
        </p:spPr>
        <p:txBody>
          <a:bodyPr wrap="square" lIns="0" tIns="0" rIns="0" bIns="0" rtlCol="0" anchor="ctr"/>
          <a:lstStyle/>
          <a:p>
            <a:pPr marL="0" indent="0">
              <a:buNone/>
            </a:pPr>
            <a:r>
              <a:rPr lang="en-US" sz="1000" b="1" dirty="0">
                <a:solidFill>
                  <a:srgbClr val="1E2A32"/>
                </a:solidFill>
              </a:rPr>
              <a:t>Data Example — what a single sample looks like at each step</a:t>
            </a:r>
            <a:endParaRPr lang="en-US" sz="1000" dirty="0"/>
          </a:p>
        </p:txBody>
      </p:sp>
      <p:sp>
        <p:nvSpPr>
          <p:cNvPr id="32" name="Shape 30"/>
          <p:cNvSpPr/>
          <p:nvPr/>
        </p:nvSpPr>
        <p:spPr>
          <a:xfrm>
            <a:off x="320040" y="3822192"/>
            <a:ext cx="2011680" cy="1170432"/>
          </a:xfrm>
          <a:prstGeom prst="rect">
            <a:avLst/>
          </a:prstGeom>
          <a:solidFill>
            <a:srgbClr val="FFFFFF"/>
          </a:solidFill>
          <a:ln w="6350">
            <a:solidFill>
              <a:srgbClr val="D0DCE6"/>
            </a:solidFill>
            <a:prstDash val="solid"/>
          </a:ln>
        </p:spPr>
      </p:sp>
      <p:sp>
        <p:nvSpPr>
          <p:cNvPr id="33" name="Shape 31"/>
          <p:cNvSpPr/>
          <p:nvPr/>
        </p:nvSpPr>
        <p:spPr>
          <a:xfrm>
            <a:off x="320040" y="3822192"/>
            <a:ext cx="2011680" cy="54864"/>
          </a:xfrm>
          <a:prstGeom prst="rect">
            <a:avLst/>
          </a:prstGeom>
          <a:solidFill>
            <a:srgbClr val="8DAC28"/>
          </a:solidFill>
          <a:ln w="12700">
            <a:solidFill>
              <a:srgbClr val="8DAC28"/>
            </a:solidFill>
            <a:prstDash val="solid"/>
          </a:ln>
        </p:spPr>
      </p:sp>
      <p:sp>
        <p:nvSpPr>
          <p:cNvPr id="34" name="Text 32"/>
          <p:cNvSpPr/>
          <p:nvPr/>
        </p:nvSpPr>
        <p:spPr>
          <a:xfrm>
            <a:off x="374904" y="3858768"/>
            <a:ext cx="1901952" cy="347472"/>
          </a:xfrm>
          <a:prstGeom prst="rect">
            <a:avLst/>
          </a:prstGeom>
          <a:noFill/>
        </p:spPr>
        <p:txBody>
          <a:bodyPr wrap="square" lIns="0" tIns="0" rIns="0" bIns="0" rtlCol="0" anchor="ctr"/>
          <a:lstStyle/>
          <a:p>
            <a:pPr marL="0" indent="0">
              <a:buNone/>
            </a:pPr>
            <a:r>
              <a:rPr lang="en-US" sz="750" b="1" dirty="0">
                <a:solidFill>
                  <a:srgbClr val="8DAC28"/>
                </a:solidFill>
              </a:rPr>
              <a:t>RAW INPUT</a:t>
            </a:r>
            <a:endParaRPr lang="en-US" sz="750" dirty="0"/>
          </a:p>
          <a:p>
            <a:pPr marL="0" indent="0">
              <a:buNone/>
            </a:pPr>
            <a:r>
              <a:rPr lang="en-US" sz="750" b="1" dirty="0">
                <a:solidFill>
                  <a:srgbClr val="8DAC28"/>
                </a:solidFill>
              </a:rPr>
              <a:t>(178 features)</a:t>
            </a:r>
            <a:endParaRPr lang="en-US" sz="750" dirty="0"/>
          </a:p>
        </p:txBody>
      </p:sp>
      <p:sp>
        <p:nvSpPr>
          <p:cNvPr id="35" name="Text 33"/>
          <p:cNvSpPr/>
          <p:nvPr/>
        </p:nvSpPr>
        <p:spPr>
          <a:xfrm>
            <a:off x="374904"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[0.23, −1.4, 0.87, 3.1, −0.6 … 178 values]</a:t>
            </a:r>
            <a:endParaRPr lang="en-US" sz="750" dirty="0"/>
          </a:p>
          <a:p>
            <a:pPr marL="0" indent="0">
              <a:buNone/>
            </a:pPr>
            <a:r>
              <a:rPr lang="en-US" sz="750" dirty="0">
                <a:solidFill>
                  <a:srgbClr val="1E2A32"/>
                </a:solidFill>
              </a:rPr>
              <a:t>Raw voltage at each time-point</a:t>
            </a:r>
            <a:endParaRPr lang="en-US" sz="750" dirty="0"/>
          </a:p>
        </p:txBody>
      </p:sp>
      <p:sp>
        <p:nvSpPr>
          <p:cNvPr id="36" name="Text 34"/>
          <p:cNvSpPr/>
          <p:nvPr/>
        </p:nvSpPr>
        <p:spPr>
          <a:xfrm>
            <a:off x="2331720"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37" name="Shape 35"/>
          <p:cNvSpPr/>
          <p:nvPr/>
        </p:nvSpPr>
        <p:spPr>
          <a:xfrm>
            <a:off x="2496312" y="3822192"/>
            <a:ext cx="2011680" cy="1170432"/>
          </a:xfrm>
          <a:prstGeom prst="rect">
            <a:avLst/>
          </a:prstGeom>
          <a:solidFill>
            <a:srgbClr val="FFFFFF"/>
          </a:solidFill>
          <a:ln w="6350">
            <a:solidFill>
              <a:srgbClr val="D0DCE6"/>
            </a:solidFill>
            <a:prstDash val="solid"/>
          </a:ln>
        </p:spPr>
      </p:sp>
      <p:sp>
        <p:nvSpPr>
          <p:cNvPr id="38" name="Shape 36"/>
          <p:cNvSpPr/>
          <p:nvPr/>
        </p:nvSpPr>
        <p:spPr>
          <a:xfrm>
            <a:off x="2496312" y="3822192"/>
            <a:ext cx="2011680" cy="54864"/>
          </a:xfrm>
          <a:prstGeom prst="rect">
            <a:avLst/>
          </a:prstGeom>
          <a:solidFill>
            <a:srgbClr val="8DAC28"/>
          </a:solidFill>
          <a:ln w="12700">
            <a:solidFill>
              <a:srgbClr val="8DAC28"/>
            </a:solidFill>
            <a:prstDash val="solid"/>
          </a:ln>
        </p:spPr>
      </p:sp>
      <p:sp>
        <p:nvSpPr>
          <p:cNvPr id="39" name="Text 37"/>
          <p:cNvSpPr/>
          <p:nvPr/>
        </p:nvSpPr>
        <p:spPr>
          <a:xfrm>
            <a:off x="2551176" y="3858768"/>
            <a:ext cx="1901952" cy="347472"/>
          </a:xfrm>
          <a:prstGeom prst="rect">
            <a:avLst/>
          </a:prstGeom>
          <a:noFill/>
        </p:spPr>
        <p:txBody>
          <a:bodyPr wrap="square" lIns="0" tIns="0" rIns="0" bIns="0" rtlCol="0" anchor="ctr"/>
          <a:lstStyle/>
          <a:p>
            <a:pPr marL="0" indent="0">
              <a:buNone/>
            </a:pPr>
            <a:r>
              <a:rPr lang="en-US" sz="750" b="1" dirty="0">
                <a:solidFill>
                  <a:srgbClr val="8DAC28"/>
                </a:solidFill>
              </a:rPr>
              <a:t>AFTER FEATURE</a:t>
            </a:r>
            <a:endParaRPr lang="en-US" sz="750" dirty="0"/>
          </a:p>
          <a:p>
            <a:pPr marL="0" indent="0">
              <a:buNone/>
            </a:pPr>
            <a:r>
              <a:rPr lang="en-US" sz="750" b="1" dirty="0">
                <a:solidFill>
                  <a:srgbClr val="8DAC28"/>
                </a:solidFill>
              </a:rPr>
              <a:t>EXTRACTION</a:t>
            </a:r>
            <a:endParaRPr lang="en-US" sz="750" dirty="0"/>
          </a:p>
        </p:txBody>
      </p:sp>
      <p:sp>
        <p:nvSpPr>
          <p:cNvPr id="40" name="Text 38"/>
          <p:cNvSpPr/>
          <p:nvPr/>
        </p:nvSpPr>
        <p:spPr>
          <a:xfrm>
            <a:off x="2551176"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[mean=0.12, var=1.4, skew=0.3, kurt=2.1, zcr=18 …]</a:t>
            </a:r>
            <a:endParaRPr lang="en-US" sz="750" dirty="0"/>
          </a:p>
          <a:p>
            <a:pPr marL="0" indent="0">
              <a:buNone/>
            </a:pPr>
            <a:r>
              <a:rPr lang="en-US" sz="750" dirty="0">
                <a:solidFill>
                  <a:srgbClr val="1E2A32"/>
                </a:solidFill>
              </a:rPr>
              <a:t>Waveform → 5 stats × N channels = compact descriptor</a:t>
            </a:r>
            <a:endParaRPr lang="en-US" sz="750" dirty="0"/>
          </a:p>
        </p:txBody>
      </p:sp>
      <p:sp>
        <p:nvSpPr>
          <p:cNvPr id="41" name="Text 39"/>
          <p:cNvSpPr/>
          <p:nvPr/>
        </p:nvSpPr>
        <p:spPr>
          <a:xfrm>
            <a:off x="4507992"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42" name="Shape 40"/>
          <p:cNvSpPr/>
          <p:nvPr/>
        </p:nvSpPr>
        <p:spPr>
          <a:xfrm>
            <a:off x="4672584" y="3822192"/>
            <a:ext cx="2011680" cy="1170432"/>
          </a:xfrm>
          <a:prstGeom prst="rect">
            <a:avLst/>
          </a:prstGeom>
          <a:solidFill>
            <a:srgbClr val="FFFFFF"/>
          </a:solidFill>
          <a:ln w="6350">
            <a:solidFill>
              <a:srgbClr val="D0DCE6"/>
            </a:solidFill>
            <a:prstDash val="solid"/>
          </a:ln>
        </p:spPr>
      </p:sp>
      <p:sp>
        <p:nvSpPr>
          <p:cNvPr id="43" name="Shape 41"/>
          <p:cNvSpPr/>
          <p:nvPr/>
        </p:nvSpPr>
        <p:spPr>
          <a:xfrm>
            <a:off x="4672584" y="3822192"/>
            <a:ext cx="2011680" cy="54864"/>
          </a:xfrm>
          <a:prstGeom prst="rect">
            <a:avLst/>
          </a:prstGeom>
          <a:solidFill>
            <a:srgbClr val="8DAC28"/>
          </a:solidFill>
          <a:ln w="12700">
            <a:solidFill>
              <a:srgbClr val="8DAC28"/>
            </a:solidFill>
            <a:prstDash val="solid"/>
          </a:ln>
        </p:spPr>
      </p:sp>
      <p:sp>
        <p:nvSpPr>
          <p:cNvPr id="44" name="Text 42"/>
          <p:cNvSpPr/>
          <p:nvPr/>
        </p:nvSpPr>
        <p:spPr>
          <a:xfrm>
            <a:off x="4727448" y="3858768"/>
            <a:ext cx="1901952" cy="347472"/>
          </a:xfrm>
          <a:prstGeom prst="rect">
            <a:avLst/>
          </a:prstGeom>
          <a:noFill/>
        </p:spPr>
        <p:txBody>
          <a:bodyPr wrap="square" lIns="0" tIns="0" rIns="0" bIns="0" rtlCol="0" anchor="ctr"/>
          <a:lstStyle/>
          <a:p>
            <a:pPr marL="0" indent="0">
              <a:buNone/>
            </a:pPr>
            <a:r>
              <a:rPr lang="en-US" sz="750" b="1" dirty="0">
                <a:solidFill>
                  <a:srgbClr val="8DAC28"/>
                </a:solidFill>
              </a:rPr>
              <a:t>AFTER STANDARD</a:t>
            </a:r>
            <a:endParaRPr lang="en-US" sz="750" dirty="0"/>
          </a:p>
          <a:p>
            <a:pPr marL="0" indent="0">
              <a:buNone/>
            </a:pPr>
            <a:r>
              <a:rPr lang="en-US" sz="750" b="1" dirty="0">
                <a:solidFill>
                  <a:srgbClr val="8DAC28"/>
                </a:solidFill>
              </a:rPr>
              <a:t>SCALING</a:t>
            </a:r>
            <a:endParaRPr lang="en-US" sz="750" dirty="0"/>
          </a:p>
        </p:txBody>
      </p:sp>
      <p:sp>
        <p:nvSpPr>
          <p:cNvPr id="45" name="Text 43"/>
          <p:cNvSpPr/>
          <p:nvPr/>
        </p:nvSpPr>
        <p:spPr>
          <a:xfrm>
            <a:off x="4727448"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[−0.11, 0.82, −0.44, 1.03, 0.27 …]</a:t>
            </a:r>
            <a:endParaRPr lang="en-US" sz="750" dirty="0"/>
          </a:p>
          <a:p>
            <a:pPr marL="0" indent="0">
              <a:buNone/>
            </a:pPr>
            <a:r>
              <a:rPr lang="en-US" sz="750" dirty="0">
                <a:solidFill>
                  <a:srgbClr val="1E2A32"/>
                </a:solidFill>
              </a:rPr>
              <a:t>All descriptors centred (mean≈0, std≈1)</a:t>
            </a:r>
            <a:endParaRPr lang="en-US" sz="750" dirty="0"/>
          </a:p>
        </p:txBody>
      </p:sp>
      <p:sp>
        <p:nvSpPr>
          <p:cNvPr id="46" name="Text 44"/>
          <p:cNvSpPr/>
          <p:nvPr/>
        </p:nvSpPr>
        <p:spPr>
          <a:xfrm>
            <a:off x="6684264" y="4187952"/>
            <a:ext cx="164592" cy="329184"/>
          </a:xfrm>
          <a:prstGeom prst="rect">
            <a:avLst/>
          </a:prstGeom>
          <a:noFill/>
        </p:spPr>
        <p:txBody>
          <a:bodyPr wrap="square" lIns="0" tIns="0" rIns="0" bIns="0" rtlCol="0" anchor="ctr"/>
          <a:lstStyle/>
          <a:p>
            <a:pPr marL="0" indent="0" algn="ctr">
              <a:buNone/>
            </a:pPr>
            <a:r>
              <a:rPr lang="en-US" sz="1400" dirty="0">
                <a:solidFill>
                  <a:srgbClr val="A9B8C3"/>
                </a:solidFill>
              </a:rPr>
              <a:t>→</a:t>
            </a:r>
            <a:endParaRPr lang="en-US" sz="1400" dirty="0"/>
          </a:p>
        </p:txBody>
      </p:sp>
      <p:sp>
        <p:nvSpPr>
          <p:cNvPr id="47" name="Shape 45"/>
          <p:cNvSpPr/>
          <p:nvPr/>
        </p:nvSpPr>
        <p:spPr>
          <a:xfrm>
            <a:off x="6848856" y="3822192"/>
            <a:ext cx="2011680" cy="1170432"/>
          </a:xfrm>
          <a:prstGeom prst="rect">
            <a:avLst/>
          </a:prstGeom>
          <a:solidFill>
            <a:srgbClr val="FFFFFF"/>
          </a:solidFill>
          <a:ln w="6350">
            <a:solidFill>
              <a:srgbClr val="D0DCE6"/>
            </a:solidFill>
            <a:prstDash val="solid"/>
          </a:ln>
        </p:spPr>
      </p:sp>
      <p:sp>
        <p:nvSpPr>
          <p:cNvPr id="48" name="Shape 46"/>
          <p:cNvSpPr/>
          <p:nvPr/>
        </p:nvSpPr>
        <p:spPr>
          <a:xfrm>
            <a:off x="6848856" y="3822192"/>
            <a:ext cx="2011680" cy="54864"/>
          </a:xfrm>
          <a:prstGeom prst="rect">
            <a:avLst/>
          </a:prstGeom>
          <a:solidFill>
            <a:srgbClr val="8DAC28"/>
          </a:solidFill>
          <a:ln w="12700">
            <a:solidFill>
              <a:srgbClr val="8DAC28"/>
            </a:solidFill>
            <a:prstDash val="solid"/>
          </a:ln>
        </p:spPr>
      </p:sp>
      <p:sp>
        <p:nvSpPr>
          <p:cNvPr id="49" name="Text 47"/>
          <p:cNvSpPr/>
          <p:nvPr/>
        </p:nvSpPr>
        <p:spPr>
          <a:xfrm>
            <a:off x="6903720" y="3858768"/>
            <a:ext cx="1901952" cy="347472"/>
          </a:xfrm>
          <a:prstGeom prst="rect">
            <a:avLst/>
          </a:prstGeom>
          <a:noFill/>
        </p:spPr>
        <p:txBody>
          <a:bodyPr wrap="square" lIns="0" tIns="0" rIns="0" bIns="0" rtlCol="0" anchor="ctr"/>
          <a:lstStyle/>
          <a:p>
            <a:pPr marL="0" indent="0">
              <a:buNone/>
            </a:pPr>
            <a:r>
              <a:rPr lang="en-US" sz="750" b="1" dirty="0">
                <a:solidFill>
                  <a:srgbClr val="8DAC28"/>
                </a:solidFill>
              </a:rPr>
              <a:t>AFTER PCA</a:t>
            </a:r>
            <a:endParaRPr lang="en-US" sz="750" dirty="0"/>
          </a:p>
          <a:p>
            <a:pPr marL="0" indent="0">
              <a:buNone/>
            </a:pPr>
            <a:r>
              <a:rPr lang="en-US" sz="750" b="1" dirty="0">
                <a:solidFill>
                  <a:srgbClr val="8DAC28"/>
                </a:solidFill>
              </a:rPr>
              <a:t>(50 components)</a:t>
            </a:r>
            <a:endParaRPr lang="en-US" sz="750" dirty="0"/>
          </a:p>
        </p:txBody>
      </p:sp>
      <p:sp>
        <p:nvSpPr>
          <p:cNvPr id="50" name="Text 48"/>
          <p:cNvSpPr/>
          <p:nvPr/>
        </p:nvSpPr>
        <p:spPr>
          <a:xfrm>
            <a:off x="6903720" y="4206240"/>
            <a:ext cx="1901952" cy="749808"/>
          </a:xfrm>
          <a:prstGeom prst="rect">
            <a:avLst/>
          </a:prstGeom>
          <a:noFill/>
        </p:spPr>
        <p:txBody>
          <a:bodyPr wrap="square" lIns="0" tIns="0" rIns="0" bIns="0" rtlCol="0" anchor="ctr"/>
          <a:lstStyle/>
          <a:p>
            <a:pPr marL="0" indent="0">
              <a:buNone/>
            </a:pPr>
            <a:r>
              <a:rPr lang="en-US" sz="750" dirty="0">
                <a:solidFill>
                  <a:srgbClr val="1E2A32"/>
                </a:solidFill>
              </a:rPr>
              <a:t>[0.71, −0.34, 1.12 … 50 values]</a:t>
            </a:r>
            <a:endParaRPr lang="en-US" sz="750" dirty="0"/>
          </a:p>
          <a:p>
            <a:pPr marL="0" indent="0">
              <a:buNone/>
            </a:pPr>
            <a:r>
              <a:rPr lang="en-US" sz="750" dirty="0">
                <a:solidFill>
                  <a:srgbClr val="1E2A32"/>
                </a:solidFill>
              </a:rPr>
              <a:t>Uncorrelated axes capturing 82.9% variance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A32"/>
          </a:solidFill>
          <a:ln w="12700">
            <a:solidFill>
              <a:srgbClr val="1E2A32"/>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02–03  |  Why Pipeline Order Matters</a:t>
            </a:r>
            <a:endParaRPr lang="en-US" sz="1900" dirty="0"/>
          </a:p>
        </p:txBody>
      </p:sp>
      <p:graphicFrame>
        <p:nvGraphicFramePr>
          <p:cNvPr id="7" name="Table 0"/>
          <p:cNvGraphicFramePr>
            <a:graphicFrameLocks noGrp="1"/>
          </p:cNvGraphicFramePr>
          <p:nvPr/>
        </p:nvGraphicFramePr>
        <p:xfrm>
          <a:off x="320040" y="804672"/>
          <a:ext cx="8503920" cy="3154680"/>
        </p:xfrm>
        <a:graphic>
          <a:graphicData uri="http://schemas.openxmlformats.org/drawingml/2006/table">
            <a:tbl>
              <a:tblPr/>
              <a:tblGrid>
                <a:gridCol w="2560320"/>
                <a:gridCol w="2971800"/>
                <a:gridCol w="2971800"/>
              </a:tblGrid>
              <a:tr h="347472">
                <a:tc>
                  <a:txBody>
                    <a:bodyPr/>
                    <a:lstStyle/>
                    <a:p>
                      <a:pPr marL="0" indent="0" algn="ctr">
                        <a:buNone/>
                      </a:pP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1000" b="1" dirty="0">
                          <a:solidFill>
                            <a:srgbClr val="FFFFFF"/>
                          </a:solidFill>
                        </a:rPr>
                        <a:t>Pipeline A</a:t>
                      </a:r>
                      <a:endParaRPr lang="en-US" sz="10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58B9DA"/>
                    </a:solidFill>
                  </a:tcPr>
                </a:tc>
                <a:tc>
                  <a:txBody>
                    <a:bodyPr/>
                    <a:lstStyle/>
                    <a:p>
                      <a:pPr marL="0" indent="0" algn="ctr">
                        <a:buNone/>
                      </a:pPr>
                      <a:r>
                        <a:rPr lang="en-US" sz="1000" b="1" dirty="0">
                          <a:solidFill>
                            <a:srgbClr val="FFFFFF"/>
                          </a:solidFill>
                        </a:rPr>
                        <a:t>Pipeline B</a:t>
                      </a:r>
                      <a:endParaRPr lang="en-US" sz="10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8DAC28"/>
                    </a:solidFill>
                  </a:tcPr>
                </a:tc>
              </a:tr>
              <a:tr h="402336">
                <a:tc>
                  <a:txBody>
                    <a:bodyPr/>
                    <a:lstStyle/>
                    <a:p>
                      <a:pPr marL="0" indent="0" algn="l">
                        <a:buNone/>
                      </a:pPr>
                      <a:r>
                        <a:rPr lang="en-US" sz="950" b="1" dirty="0">
                          <a:solidFill>
                            <a:srgbClr val="1E2A32"/>
                          </a:solidFill>
                        </a:rPr>
                        <a:t>Starts with</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Raw signal (178 voltage values)</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Computed statistics (mean, var, zcr…)</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402336">
                <a:tc>
                  <a:txBody>
                    <a:bodyPr/>
                    <a:lstStyle/>
                    <a:p>
                      <a:pPr marL="0" indent="0" algn="l">
                        <a:buNone/>
                      </a:pPr>
                      <a:r>
                        <a:rPr lang="en-US" sz="950" b="1" dirty="0">
                          <a:solidFill>
                            <a:srgbClr val="1E2A32"/>
                          </a:solidFill>
                        </a:rPr>
                        <a:t>Scaling type</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Min-Max → [0,1]</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Z-score → mean=0, std=1</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402336">
                <a:tc>
                  <a:txBody>
                    <a:bodyPr/>
                    <a:lstStyle/>
                    <a:p>
                      <a:pPr marL="0" indent="0" algn="l">
                        <a:buNone/>
                      </a:pPr>
                      <a:r>
                        <a:rPr lang="en-US" sz="950" b="1" dirty="0">
                          <a:solidFill>
                            <a:srgbClr val="1E2A32"/>
                          </a:solidFill>
                        </a:rPr>
                        <a:t>Reduction method</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Univariate feature selection</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PCA (orthogonal compression)</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402336">
                <a:tc>
                  <a:txBody>
                    <a:bodyPr/>
                    <a:lstStyle/>
                    <a:p>
                      <a:pPr marL="0" indent="0" algn="l">
                        <a:buNone/>
                      </a:pPr>
                      <a:r>
                        <a:rPr lang="en-US" sz="950" b="1" dirty="0">
                          <a:solidFill>
                            <a:srgbClr val="1E2A32"/>
                          </a:solidFill>
                        </a:rPr>
                        <a:t>Handles correlation?</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No — correlated raw features survive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Yes — PCA removes redundancy</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402336">
                <a:tc>
                  <a:txBody>
                    <a:bodyPr/>
                    <a:lstStyle/>
                    <a:p>
                      <a:pPr marL="0" indent="0" algn="l">
                        <a:buNone/>
                      </a:pPr>
                      <a:r>
                        <a:rPr lang="en-US" sz="950" b="1" dirty="0">
                          <a:solidFill>
                            <a:srgbClr val="1E2A32"/>
                          </a:solidFill>
                        </a:rPr>
                        <a:t>Noise sensitivity</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High — raw values carry noise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Low — stats average over noise</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402336">
                <a:tc>
                  <a:txBody>
                    <a:bodyPr/>
                    <a:lstStyle/>
                    <a:p>
                      <a:pPr marL="0" indent="0" algn="l">
                        <a:buNone/>
                      </a:pPr>
                      <a:r>
                        <a:rPr lang="en-US" sz="950" b="1" dirty="0">
                          <a:solidFill>
                            <a:srgbClr val="1E2A32"/>
                          </a:solidFill>
                        </a:rPr>
                        <a:t>df1 F1 score</a:t>
                      </a:r>
                      <a:endParaRPr lang="en-US" sz="9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C0392B"/>
                          </a:solidFill>
                        </a:rPr>
                        <a:t>0.051  ← collapsed to majority class</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8DAC28"/>
                          </a:solidFill>
                        </a:rPr>
                        <a:t>0.856  ← learns seizure pattern</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bl>
          </a:graphicData>
        </a:graphic>
      </p:graphicFrame>
      <p:sp>
        <p:nvSpPr>
          <p:cNvPr id="5" name="Shape 2"/>
          <p:cNvSpPr/>
          <p:nvPr/>
        </p:nvSpPr>
        <p:spPr>
          <a:xfrm>
            <a:off x="320040" y="4069080"/>
            <a:ext cx="8503920" cy="868680"/>
          </a:xfrm>
          <a:prstGeom prst="rect">
            <a:avLst/>
          </a:prstGeom>
          <a:solidFill>
            <a:srgbClr val="F4F8FB"/>
          </a:solidFill>
          <a:ln w="9525">
            <a:solidFill>
              <a:srgbClr val="8DAC28"/>
            </a:solidFill>
            <a:prstDash val="solid"/>
          </a:ln>
        </p:spPr>
      </p:sp>
      <p:sp>
        <p:nvSpPr>
          <p:cNvPr id="6" name="Shape 3"/>
          <p:cNvSpPr/>
          <p:nvPr/>
        </p:nvSpPr>
        <p:spPr>
          <a:xfrm>
            <a:off x="320040" y="4069080"/>
            <a:ext cx="64008" cy="868680"/>
          </a:xfrm>
          <a:prstGeom prst="rect">
            <a:avLst/>
          </a:prstGeom>
          <a:solidFill>
            <a:srgbClr val="8DAC28"/>
          </a:solidFill>
          <a:ln w="12700">
            <a:solidFill>
              <a:srgbClr val="8DAC28"/>
            </a:solidFill>
            <a:prstDash val="solid"/>
          </a:ln>
        </p:spPr>
      </p:sp>
      <p:sp>
        <p:nvSpPr>
          <p:cNvPr id="4" name="Text 4"/>
          <p:cNvSpPr/>
          <p:nvPr/>
        </p:nvSpPr>
        <p:spPr>
          <a:xfrm>
            <a:off x="530352" y="4160520"/>
            <a:ext cx="2011680" cy="256032"/>
          </a:xfrm>
          <a:prstGeom prst="rect">
            <a:avLst/>
          </a:prstGeom>
          <a:noFill/>
        </p:spPr>
        <p:txBody>
          <a:bodyPr wrap="square" lIns="0" tIns="0" rIns="0" bIns="0" rtlCol="0" anchor="ctr"/>
          <a:lstStyle/>
          <a:p>
            <a:pPr marL="0" indent="0">
              <a:buNone/>
            </a:pPr>
            <a:r>
              <a:rPr lang="en-US" sz="1000" b="1" dirty="0">
                <a:solidFill>
                  <a:srgbClr val="8DAC28"/>
                </a:solidFill>
              </a:rPr>
              <a:t>The critical difference:</a:t>
            </a:r>
            <a:endParaRPr lang="en-US" sz="1000" dirty="0"/>
          </a:p>
        </p:txBody>
      </p:sp>
      <p:sp>
        <p:nvSpPr>
          <p:cNvPr id="8" name="Text 5"/>
          <p:cNvSpPr/>
          <p:nvPr/>
        </p:nvSpPr>
        <p:spPr>
          <a:xfrm>
            <a:off x="530352" y="4160520"/>
            <a:ext cx="8229600" cy="71323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Pipeline A applies normalisation to raw EEG voltages that still carry inter-channel correlation and noise. Feature selection then picks statistically significant features — but they remain correlated and noisy. Pipeline B first compresses each waveform into interpretable statistics (mean, variance, etc.), stripping out temporal noise before scaling and PCA remove any remaining redundancy. The model in Pipeline B receives a clean, compact, decorrelated input — which is why it works.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A32"/>
          </a:solidFill>
          <a:ln w="12700">
            <a:solidFill>
              <a:srgbClr val="1E2A32"/>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  |  Baseline Results — Logistic Regression</a:t>
            </a:r>
            <a:endParaRPr lang="en-US" sz="1900" dirty="0"/>
          </a:p>
        </p:txBody>
      </p:sp>
      <p:sp>
        <p:nvSpPr>
          <p:cNvPr id="4" name="Shape 2"/>
          <p:cNvSpPr/>
          <p:nvPr/>
        </p:nvSpPr>
        <p:spPr>
          <a:xfrm>
            <a:off x="320040" y="777240"/>
            <a:ext cx="2651760" cy="86868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5" name="Shape 3"/>
          <p:cNvSpPr/>
          <p:nvPr/>
        </p:nvSpPr>
        <p:spPr>
          <a:xfrm>
            <a:off x="320040" y="777240"/>
            <a:ext cx="2651760" cy="91440"/>
          </a:xfrm>
          <a:prstGeom prst="rect">
            <a:avLst/>
          </a:prstGeom>
          <a:solidFill>
            <a:srgbClr val="8DAC28"/>
          </a:solidFill>
          <a:ln w="12700">
            <a:solidFill>
              <a:srgbClr val="8DAC28"/>
            </a:solidFill>
            <a:prstDash val="solid"/>
          </a:ln>
        </p:spPr>
      </p:sp>
      <p:sp>
        <p:nvSpPr>
          <p:cNvPr id="6" name="Text 4"/>
          <p:cNvSpPr/>
          <p:nvPr/>
        </p:nvSpPr>
        <p:spPr>
          <a:xfrm>
            <a:off x="320040" y="822960"/>
            <a:ext cx="2651760" cy="502920"/>
          </a:xfrm>
          <a:prstGeom prst="rect">
            <a:avLst/>
          </a:prstGeom>
          <a:noFill/>
        </p:spPr>
        <p:txBody>
          <a:bodyPr wrap="square" lIns="0" tIns="0" rIns="0" bIns="0" rtlCol="0" anchor="ctr"/>
          <a:lstStyle/>
          <a:p>
            <a:pPr marL="0" indent="0" algn="ctr">
              <a:buNone/>
            </a:pPr>
            <a:r>
              <a:rPr lang="en-US" sz="2800" b="1" dirty="0">
                <a:solidFill>
                  <a:srgbClr val="8DAC28"/>
                </a:solidFill>
                <a:latin typeface="Calibri" panose="020F0502020204030204" pitchFamily="34" charset="0"/>
                <a:ea typeface="Calibri" panose="020F0502020204030204" pitchFamily="34" charset="-122"/>
                <a:cs typeface="Calibri" panose="020F0502020204030204" pitchFamily="34" charset="-120"/>
              </a:rPr>
              <a:t>0.984</a:t>
            </a:r>
            <a:endParaRPr lang="en-US" sz="2800" dirty="0"/>
          </a:p>
        </p:txBody>
      </p:sp>
      <p:sp>
        <p:nvSpPr>
          <p:cNvPr id="7" name="Text 5"/>
          <p:cNvSpPr/>
          <p:nvPr/>
        </p:nvSpPr>
        <p:spPr>
          <a:xfrm>
            <a:off x="320040" y="1344168"/>
            <a:ext cx="2651760" cy="237744"/>
          </a:xfrm>
          <a:prstGeom prst="rect">
            <a:avLst/>
          </a:prstGeom>
          <a:noFill/>
        </p:spPr>
        <p:txBody>
          <a:bodyPr wrap="square" lIns="0" tIns="0" rIns="0" bIns="0" rtlCol="0" anchor="ctr"/>
          <a:lstStyle/>
          <a:p>
            <a:pPr marL="0" indent="0" algn="ctr">
              <a:buNone/>
            </a:pPr>
            <a:r>
              <a:rPr lang="en-US" sz="800" dirty="0">
                <a:solidFill>
                  <a:srgbClr val="A9B8C3"/>
                </a:solidFill>
              </a:rPr>
              <a:t>Best F1  ·  Pipeline B · df2</a:t>
            </a:r>
            <a:endParaRPr lang="en-US" sz="800" dirty="0"/>
          </a:p>
        </p:txBody>
      </p:sp>
      <p:sp>
        <p:nvSpPr>
          <p:cNvPr id="8" name="Shape 6"/>
          <p:cNvSpPr/>
          <p:nvPr/>
        </p:nvSpPr>
        <p:spPr>
          <a:xfrm>
            <a:off x="3200400" y="777240"/>
            <a:ext cx="2651760" cy="86868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9" name="Shape 7"/>
          <p:cNvSpPr/>
          <p:nvPr/>
        </p:nvSpPr>
        <p:spPr>
          <a:xfrm>
            <a:off x="3200400" y="777240"/>
            <a:ext cx="2651760" cy="91440"/>
          </a:xfrm>
          <a:prstGeom prst="rect">
            <a:avLst/>
          </a:prstGeom>
          <a:solidFill>
            <a:srgbClr val="C0392B"/>
          </a:solidFill>
          <a:ln w="12700">
            <a:solidFill>
              <a:srgbClr val="C0392B"/>
            </a:solidFill>
            <a:prstDash val="solid"/>
          </a:ln>
        </p:spPr>
      </p:sp>
      <p:sp>
        <p:nvSpPr>
          <p:cNvPr id="10" name="Text 8"/>
          <p:cNvSpPr/>
          <p:nvPr/>
        </p:nvSpPr>
        <p:spPr>
          <a:xfrm>
            <a:off x="3200400" y="822960"/>
            <a:ext cx="2651760" cy="502920"/>
          </a:xfrm>
          <a:prstGeom prst="rect">
            <a:avLst/>
          </a:prstGeom>
          <a:noFill/>
        </p:spPr>
        <p:txBody>
          <a:bodyPr wrap="square" lIns="0" tIns="0" rIns="0" bIns="0" rtlCol="0" anchor="ctr"/>
          <a:lstStyle/>
          <a:p>
            <a:pPr marL="0" indent="0" algn="ctr">
              <a:buNone/>
            </a:pPr>
            <a:r>
              <a:rPr lang="en-US" sz="2800" b="1" dirty="0">
                <a:solidFill>
                  <a:srgbClr val="C0392B"/>
                </a:solidFill>
                <a:latin typeface="Calibri" panose="020F0502020204030204" pitchFamily="34" charset="0"/>
                <a:ea typeface="Calibri" panose="020F0502020204030204" pitchFamily="34" charset="-122"/>
                <a:cs typeface="Calibri" panose="020F0502020204030204" pitchFamily="34" charset="-120"/>
              </a:rPr>
              <a:t>0.034</a:t>
            </a:r>
            <a:endParaRPr lang="en-US" sz="2800" dirty="0"/>
          </a:p>
        </p:txBody>
      </p:sp>
      <p:sp>
        <p:nvSpPr>
          <p:cNvPr id="11" name="Text 9"/>
          <p:cNvSpPr/>
          <p:nvPr/>
        </p:nvSpPr>
        <p:spPr>
          <a:xfrm>
            <a:off x="3200400" y="1344168"/>
            <a:ext cx="2651760" cy="237744"/>
          </a:xfrm>
          <a:prstGeom prst="rect">
            <a:avLst/>
          </a:prstGeom>
          <a:noFill/>
        </p:spPr>
        <p:txBody>
          <a:bodyPr wrap="square" lIns="0" tIns="0" rIns="0" bIns="0" rtlCol="0" anchor="ctr"/>
          <a:lstStyle/>
          <a:p>
            <a:pPr marL="0" indent="0" algn="ctr">
              <a:buNone/>
            </a:pPr>
            <a:r>
              <a:rPr lang="en-US" sz="800" dirty="0">
                <a:solidFill>
                  <a:srgbClr val="A9B8C3"/>
                </a:solidFill>
              </a:rPr>
              <a:t>Worst F1  ·  Pipeline A · df1 test</a:t>
            </a:r>
            <a:endParaRPr lang="en-US" sz="800" dirty="0"/>
          </a:p>
        </p:txBody>
      </p:sp>
      <p:sp>
        <p:nvSpPr>
          <p:cNvPr id="12" name="Shape 10"/>
          <p:cNvSpPr/>
          <p:nvPr/>
        </p:nvSpPr>
        <p:spPr>
          <a:xfrm>
            <a:off x="6080760" y="777240"/>
            <a:ext cx="2651760" cy="868680"/>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13" name="Shape 11"/>
          <p:cNvSpPr/>
          <p:nvPr/>
        </p:nvSpPr>
        <p:spPr>
          <a:xfrm>
            <a:off x="6080760" y="777240"/>
            <a:ext cx="2651760" cy="91440"/>
          </a:xfrm>
          <a:prstGeom prst="rect">
            <a:avLst/>
          </a:prstGeom>
          <a:solidFill>
            <a:srgbClr val="58B9DA"/>
          </a:solidFill>
          <a:ln w="12700">
            <a:solidFill>
              <a:srgbClr val="58B9DA"/>
            </a:solidFill>
            <a:prstDash val="solid"/>
          </a:ln>
        </p:spPr>
      </p:sp>
      <p:sp>
        <p:nvSpPr>
          <p:cNvPr id="14" name="Text 12"/>
          <p:cNvSpPr/>
          <p:nvPr/>
        </p:nvSpPr>
        <p:spPr>
          <a:xfrm>
            <a:off x="6080760" y="822960"/>
            <a:ext cx="2651760" cy="502920"/>
          </a:xfrm>
          <a:prstGeom prst="rect">
            <a:avLst/>
          </a:prstGeom>
          <a:noFill/>
        </p:spPr>
        <p:txBody>
          <a:bodyPr wrap="square" lIns="0" tIns="0" rIns="0" bIns="0" rtlCol="0" anchor="ctr"/>
          <a:lstStyle/>
          <a:p>
            <a:pPr marL="0" indent="0" algn="ctr">
              <a:buNone/>
            </a:pPr>
            <a:r>
              <a:rPr lang="en-US" sz="2800" b="1" dirty="0">
                <a:solidFill>
                  <a:srgbClr val="58B9DA"/>
                </a:solidFill>
                <a:latin typeface="Calibri" panose="020F0502020204030204" pitchFamily="34" charset="0"/>
                <a:ea typeface="Calibri" panose="020F0502020204030204" pitchFamily="34" charset="-122"/>
                <a:cs typeface="Calibri" panose="020F0502020204030204" pitchFamily="34" charset="-120"/>
              </a:rPr>
              <a:t>0.999</a:t>
            </a:r>
            <a:endParaRPr lang="en-US" sz="2800" dirty="0"/>
          </a:p>
        </p:txBody>
      </p:sp>
      <p:sp>
        <p:nvSpPr>
          <p:cNvPr id="15" name="Text 13"/>
          <p:cNvSpPr/>
          <p:nvPr/>
        </p:nvSpPr>
        <p:spPr>
          <a:xfrm>
            <a:off x="6080760" y="1344168"/>
            <a:ext cx="2651760" cy="237744"/>
          </a:xfrm>
          <a:prstGeom prst="rect">
            <a:avLst/>
          </a:prstGeom>
          <a:noFill/>
        </p:spPr>
        <p:txBody>
          <a:bodyPr wrap="square" lIns="0" tIns="0" rIns="0" bIns="0" rtlCol="0" anchor="ctr"/>
          <a:lstStyle/>
          <a:p>
            <a:pPr marL="0" indent="0" algn="ctr">
              <a:buNone/>
            </a:pPr>
            <a:r>
              <a:rPr lang="en-US" sz="800" dirty="0">
                <a:solidFill>
                  <a:srgbClr val="A9B8C3"/>
                </a:solidFill>
              </a:rPr>
              <a:t>Best PR-AUC  ·  Pipeline B · df2 val</a:t>
            </a:r>
            <a:endParaRPr lang="en-US" sz="800" dirty="0"/>
          </a:p>
        </p:txBody>
      </p:sp>
      <p:graphicFrame>
        <p:nvGraphicFramePr>
          <p:cNvPr id="16" name="Table 0"/>
          <p:cNvGraphicFramePr>
            <a:graphicFrameLocks noGrp="1"/>
          </p:cNvGraphicFramePr>
          <p:nvPr/>
        </p:nvGraphicFramePr>
        <p:xfrm>
          <a:off x="320040" y="1783080"/>
          <a:ext cx="5486400" cy="3200400"/>
        </p:xfrm>
        <a:graphic>
          <a:graphicData uri="http://schemas.openxmlformats.org/drawingml/2006/table">
            <a:tbl>
              <a:tblPr/>
              <a:tblGrid>
                <a:gridCol w="914400"/>
                <a:gridCol w="822960"/>
                <a:gridCol w="731520"/>
                <a:gridCol w="1005840"/>
                <a:gridCol w="1005840"/>
                <a:gridCol w="1005840"/>
              </a:tblGrid>
              <a:tr h="233172">
                <a:tc>
                  <a:txBody>
                    <a:bodyPr/>
                    <a:lstStyle/>
                    <a:p>
                      <a:pPr marL="0" indent="0" algn="ctr">
                        <a:buNone/>
                      </a:pPr>
                      <a:r>
                        <a:rPr lang="en-US" sz="850" b="1" dirty="0">
                          <a:solidFill>
                            <a:srgbClr val="FFFFFF"/>
                          </a:solidFill>
                        </a:rPr>
                        <a:t>Pipeline</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Dataset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Split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Accuracy</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F1-Score</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PR-AUC</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0.805</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0.051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0.439</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0.803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0.034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0.465</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0.807</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0.886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0.740</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0.812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0.888</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0.734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0.526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0.452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0.547</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58B9DA"/>
                          </a:solidFill>
                        </a:rPr>
                        <a:t>A</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0.491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0.399</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0.517</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0.946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0.856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0.948</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0.943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0.845</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0.934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0.976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0.984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0.999</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0.976</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0.984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0.998</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df3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Val</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0.712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0.683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E2A32"/>
                          </a:solidFill>
                        </a:rPr>
                        <a:t>0.804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3172">
                <a:tc>
                  <a:txBody>
                    <a:bodyPr/>
                    <a:lstStyle/>
                    <a:p>
                      <a:pPr marL="0" indent="0" algn="ctr">
                        <a:buNone/>
                      </a:pPr>
                      <a:r>
                        <a:rPr lang="en-US" sz="850" b="1" dirty="0">
                          <a:solidFill>
                            <a:srgbClr val="8DAC28"/>
                          </a:solidFill>
                        </a:rPr>
                        <a:t>B</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df3</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Test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0.754</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0.727</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E2A32"/>
                          </a:solidFill>
                        </a:rPr>
                        <a:t>0.847</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bl>
          </a:graphicData>
        </a:graphic>
      </p:graphicFrame>
      <p:sp>
        <p:nvSpPr>
          <p:cNvPr id="17" name="Text 14"/>
          <p:cNvSpPr/>
          <p:nvPr/>
        </p:nvSpPr>
        <p:spPr>
          <a:xfrm>
            <a:off x="5989320" y="1783080"/>
            <a:ext cx="3108960" cy="292608"/>
          </a:xfrm>
          <a:prstGeom prst="rect">
            <a:avLst/>
          </a:prstGeom>
          <a:noFill/>
        </p:spPr>
        <p:txBody>
          <a:bodyPr wrap="square" lIns="0" tIns="0" rIns="0" bIns="0" rtlCol="0" anchor="ctr"/>
          <a:lstStyle/>
          <a:p>
            <a:pPr marL="0" indent="0">
              <a:buNone/>
            </a:pPr>
            <a:r>
              <a:rPr lang="en-US" sz="1100" b="1" dirty="0">
                <a:solidFill>
                  <a:srgbClr val="1E2A32"/>
                </a:solidFill>
              </a:rPr>
              <a:t>Why these results?</a:t>
            </a:r>
            <a:endParaRPr lang="en-US" sz="1100" dirty="0"/>
          </a:p>
        </p:txBody>
      </p:sp>
      <p:sp>
        <p:nvSpPr>
          <p:cNvPr id="18" name="Shape 15"/>
          <p:cNvSpPr/>
          <p:nvPr/>
        </p:nvSpPr>
        <p:spPr>
          <a:xfrm>
            <a:off x="5989320" y="2176272"/>
            <a:ext cx="3108960" cy="896112"/>
          </a:xfrm>
          <a:prstGeom prst="rect">
            <a:avLst/>
          </a:prstGeom>
          <a:solidFill>
            <a:srgbClr val="FFFFFF"/>
          </a:solidFill>
          <a:ln w="12700">
            <a:solidFill>
              <a:srgbClr val="E0E8EE"/>
            </a:solidFill>
            <a:prstDash val="solid"/>
          </a:ln>
        </p:spPr>
      </p:sp>
      <p:sp>
        <p:nvSpPr>
          <p:cNvPr id="19" name="Shape 16"/>
          <p:cNvSpPr/>
          <p:nvPr/>
        </p:nvSpPr>
        <p:spPr>
          <a:xfrm>
            <a:off x="5989320" y="2176272"/>
            <a:ext cx="64008" cy="896112"/>
          </a:xfrm>
          <a:prstGeom prst="rect">
            <a:avLst/>
          </a:prstGeom>
          <a:solidFill>
            <a:srgbClr val="58B9DA"/>
          </a:solidFill>
          <a:ln w="12700">
            <a:solidFill>
              <a:srgbClr val="58B9DA"/>
            </a:solidFill>
            <a:prstDash val="solid"/>
          </a:ln>
        </p:spPr>
      </p:sp>
      <p:sp>
        <p:nvSpPr>
          <p:cNvPr id="20" name="Text 17"/>
          <p:cNvSpPr/>
          <p:nvPr/>
        </p:nvSpPr>
        <p:spPr>
          <a:xfrm>
            <a:off x="6172200" y="2231136"/>
            <a:ext cx="2834640" cy="237744"/>
          </a:xfrm>
          <a:prstGeom prst="rect">
            <a:avLst/>
          </a:prstGeom>
          <a:noFill/>
        </p:spPr>
        <p:txBody>
          <a:bodyPr wrap="square" lIns="0" tIns="0" rIns="0" bIns="0" rtlCol="0" anchor="ctr"/>
          <a:lstStyle/>
          <a:p>
            <a:pPr marL="0" indent="0">
              <a:buNone/>
            </a:pPr>
            <a:r>
              <a:rPr lang="en-US" sz="900" b="1" dirty="0">
                <a:solidFill>
                  <a:srgbClr val="58B9DA"/>
                </a:solidFill>
              </a:rPr>
              <a:t>Pipeline A df1 F1=0.051</a:t>
            </a:r>
            <a:endParaRPr lang="en-US" sz="900" dirty="0"/>
          </a:p>
        </p:txBody>
      </p:sp>
      <p:sp>
        <p:nvSpPr>
          <p:cNvPr id="21" name="Text 18"/>
          <p:cNvSpPr/>
          <p:nvPr/>
        </p:nvSpPr>
        <p:spPr>
          <a:xfrm>
            <a:off x="6172200" y="2468880"/>
            <a:ext cx="2834640" cy="566928"/>
          </a:xfrm>
          <a:prstGeom prst="rect">
            <a:avLst/>
          </a:prstGeom>
          <a:noFill/>
        </p:spPr>
        <p:txBody>
          <a:bodyPr wrap="square" lIns="0" tIns="0" rIns="0" bIns="0" rtlCol="0" anchor="ctr"/>
          <a:lstStyle/>
          <a:p>
            <a:pPr marL="0" indent="0">
              <a:buNone/>
            </a:pPr>
            <a:r>
              <a:rPr lang="en-US" sz="800" dirty="0">
                <a:solidFill>
                  <a:srgbClr val="1E2A32"/>
                </a:solidFill>
              </a:rPr>
              <a:t>178 correlated raw features, high noise. Model cannot find a clean boundary — defaults to predicting majority class (non-seizure). Precision=1.0, Recall≈0 tells the whole story.</a:t>
            </a:r>
            <a:endParaRPr lang="en-US" sz="800" dirty="0"/>
          </a:p>
        </p:txBody>
      </p:sp>
      <p:sp>
        <p:nvSpPr>
          <p:cNvPr id="22" name="Shape 19"/>
          <p:cNvSpPr/>
          <p:nvPr/>
        </p:nvSpPr>
        <p:spPr>
          <a:xfrm>
            <a:off x="5989320" y="3163824"/>
            <a:ext cx="3108960" cy="896112"/>
          </a:xfrm>
          <a:prstGeom prst="rect">
            <a:avLst/>
          </a:prstGeom>
          <a:solidFill>
            <a:srgbClr val="FFFFFF"/>
          </a:solidFill>
          <a:ln w="12700">
            <a:solidFill>
              <a:srgbClr val="E0E8EE"/>
            </a:solidFill>
            <a:prstDash val="solid"/>
          </a:ln>
        </p:spPr>
      </p:sp>
      <p:sp>
        <p:nvSpPr>
          <p:cNvPr id="23" name="Shape 20"/>
          <p:cNvSpPr/>
          <p:nvPr/>
        </p:nvSpPr>
        <p:spPr>
          <a:xfrm>
            <a:off x="5989320" y="3163824"/>
            <a:ext cx="64008" cy="896112"/>
          </a:xfrm>
          <a:prstGeom prst="rect">
            <a:avLst/>
          </a:prstGeom>
          <a:solidFill>
            <a:srgbClr val="8DAC28"/>
          </a:solidFill>
          <a:ln w="12700">
            <a:solidFill>
              <a:srgbClr val="8DAC28"/>
            </a:solidFill>
            <a:prstDash val="solid"/>
          </a:ln>
        </p:spPr>
      </p:sp>
      <p:sp>
        <p:nvSpPr>
          <p:cNvPr id="24" name="Text 21"/>
          <p:cNvSpPr/>
          <p:nvPr/>
        </p:nvSpPr>
        <p:spPr>
          <a:xfrm>
            <a:off x="6172200" y="3218688"/>
            <a:ext cx="2834640" cy="237744"/>
          </a:xfrm>
          <a:prstGeom prst="rect">
            <a:avLst/>
          </a:prstGeom>
          <a:noFill/>
        </p:spPr>
        <p:txBody>
          <a:bodyPr wrap="square" lIns="0" tIns="0" rIns="0" bIns="0" rtlCol="0" anchor="ctr"/>
          <a:lstStyle/>
          <a:p>
            <a:pPr marL="0" indent="0">
              <a:buNone/>
            </a:pPr>
            <a:r>
              <a:rPr lang="en-US" sz="900" b="1" dirty="0">
                <a:solidFill>
                  <a:srgbClr val="8DAC28"/>
                </a:solidFill>
              </a:rPr>
              <a:t>Pipeline B df2 F1=0.984</a:t>
            </a:r>
            <a:endParaRPr lang="en-US" sz="900" dirty="0"/>
          </a:p>
        </p:txBody>
      </p:sp>
      <p:sp>
        <p:nvSpPr>
          <p:cNvPr id="25" name="Text 22"/>
          <p:cNvSpPr/>
          <p:nvPr/>
        </p:nvSpPr>
        <p:spPr>
          <a:xfrm>
            <a:off x="6172200" y="3456432"/>
            <a:ext cx="2834640" cy="566928"/>
          </a:xfrm>
          <a:prstGeom prst="rect">
            <a:avLst/>
          </a:prstGeom>
          <a:noFill/>
        </p:spPr>
        <p:txBody>
          <a:bodyPr wrap="square" lIns="0" tIns="0" rIns="0" bIns="0" rtlCol="0" anchor="ctr"/>
          <a:lstStyle/>
          <a:p>
            <a:pPr marL="0" indent="0">
              <a:buNone/>
            </a:pPr>
            <a:r>
              <a:rPr lang="en-US" sz="800" dirty="0">
                <a:solidFill>
                  <a:srgbClr val="1E2A32"/>
                </a:solidFill>
              </a:rPr>
              <a:t>16 channels → compact statistics → 10 PCA components capturing 93% variance. Clean, decorrelated input on a balanced-ish dataset. Logistic regression works perfectly here.</a:t>
            </a:r>
            <a:endParaRPr lang="en-US" sz="800" dirty="0"/>
          </a:p>
        </p:txBody>
      </p:sp>
      <p:sp>
        <p:nvSpPr>
          <p:cNvPr id="26" name="Shape 23"/>
          <p:cNvSpPr/>
          <p:nvPr/>
        </p:nvSpPr>
        <p:spPr>
          <a:xfrm>
            <a:off x="5989320" y="4151376"/>
            <a:ext cx="3108960" cy="896112"/>
          </a:xfrm>
          <a:prstGeom prst="rect">
            <a:avLst/>
          </a:prstGeom>
          <a:solidFill>
            <a:srgbClr val="FFFFFF"/>
          </a:solidFill>
          <a:ln w="12700">
            <a:solidFill>
              <a:srgbClr val="E0E8EE"/>
            </a:solidFill>
            <a:prstDash val="solid"/>
          </a:ln>
        </p:spPr>
      </p:sp>
      <p:sp>
        <p:nvSpPr>
          <p:cNvPr id="27" name="Shape 24"/>
          <p:cNvSpPr/>
          <p:nvPr/>
        </p:nvSpPr>
        <p:spPr>
          <a:xfrm>
            <a:off x="5989320" y="4151376"/>
            <a:ext cx="64008" cy="896112"/>
          </a:xfrm>
          <a:prstGeom prst="rect">
            <a:avLst/>
          </a:prstGeom>
          <a:solidFill>
            <a:srgbClr val="A9B8C3"/>
          </a:solidFill>
          <a:ln w="12700">
            <a:solidFill>
              <a:srgbClr val="A9B8C3"/>
            </a:solidFill>
            <a:prstDash val="solid"/>
          </a:ln>
        </p:spPr>
      </p:sp>
      <p:sp>
        <p:nvSpPr>
          <p:cNvPr id="28" name="Text 25"/>
          <p:cNvSpPr/>
          <p:nvPr/>
        </p:nvSpPr>
        <p:spPr>
          <a:xfrm>
            <a:off x="6172200" y="4206240"/>
            <a:ext cx="2834640" cy="237744"/>
          </a:xfrm>
          <a:prstGeom prst="rect">
            <a:avLst/>
          </a:prstGeom>
          <a:noFill/>
        </p:spPr>
        <p:txBody>
          <a:bodyPr wrap="square" lIns="0" tIns="0" rIns="0" bIns="0" rtlCol="0" anchor="ctr"/>
          <a:lstStyle/>
          <a:p>
            <a:pPr marL="0" indent="0">
              <a:buNone/>
            </a:pPr>
            <a:r>
              <a:rPr lang="en-US" sz="900" b="1" dirty="0">
                <a:solidFill>
                  <a:srgbClr val="A9B8C3"/>
                </a:solidFill>
              </a:rPr>
              <a:t>df3 mid-range (F1~0.45–0.73)</a:t>
            </a:r>
            <a:endParaRPr lang="en-US" sz="900" dirty="0"/>
          </a:p>
        </p:txBody>
      </p:sp>
      <p:sp>
        <p:nvSpPr>
          <p:cNvPr id="29" name="Text 26"/>
          <p:cNvSpPr/>
          <p:nvPr/>
        </p:nvSpPr>
        <p:spPr>
          <a:xfrm>
            <a:off x="6172200" y="4443984"/>
            <a:ext cx="2834640" cy="566928"/>
          </a:xfrm>
          <a:prstGeom prst="rect">
            <a:avLst/>
          </a:prstGeom>
          <a:noFill/>
        </p:spPr>
        <p:txBody>
          <a:bodyPr wrap="square" lIns="0" tIns="0" rIns="0" bIns="0" rtlCol="0" anchor="ctr"/>
          <a:lstStyle/>
          <a:p>
            <a:pPr marL="0" indent="0">
              <a:buNone/>
            </a:pPr>
            <a:r>
              <a:rPr lang="en-US" sz="800" dirty="0">
                <a:solidFill>
                  <a:srgbClr val="1E2A32"/>
                </a:solidFill>
              </a:rPr>
              <a:t>5,888 features from 23 channels × 256 time-points. Even after PCA (100 comps, 67.7% var), the task is genuinely hard — EEG is high-dimensional and seizures have complex waveform patterns.</a:t>
            </a:r>
            <a:endParaRPr lang="en-US" sz="800" dirty="0"/>
          </a:p>
        </p:txBody>
      </p:sp>
      <p:sp>
        <p:nvSpPr>
          <p:cNvPr id="30" name="Text 27"/>
          <p:cNvSpPr/>
          <p:nvPr/>
        </p:nvSpPr>
        <p:spPr>
          <a:xfrm>
            <a:off x="320040" y="4992624"/>
            <a:ext cx="5486400" cy="182880"/>
          </a:xfrm>
          <a:prstGeom prst="rect">
            <a:avLst/>
          </a:prstGeom>
          <a:noFill/>
        </p:spPr>
        <p:txBody>
          <a:bodyPr wrap="square" lIns="0" tIns="0" rIns="0" bIns="0" rtlCol="0" anchor="ctr"/>
          <a:lstStyle/>
          <a:p>
            <a:pPr marL="0" indent="0" algn="r">
              <a:buNone/>
            </a:pPr>
            <a:r>
              <a:rPr lang="en-US" sz="750" i="1" dirty="0">
                <a:solidFill>
                  <a:srgbClr val="A9B8C3"/>
                </a:solidFill>
              </a:rPr>
              <a:t>Blue = Pipeline A  ·  Green = Pipeline B</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8B9DA"/>
          </a:solidFill>
          <a:ln w="12700">
            <a:solidFill>
              <a:srgbClr val="58B9DA"/>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  |  Overfitting &amp; Underfitting — Learning Curves</a:t>
            </a:r>
            <a:endParaRPr lang="en-US" sz="1900" dirty="0"/>
          </a:p>
        </p:txBody>
      </p:sp>
      <p:sp>
        <p:nvSpPr>
          <p:cNvPr id="4" name="Shape 2"/>
          <p:cNvSpPr/>
          <p:nvPr/>
        </p:nvSpPr>
        <p:spPr>
          <a:xfrm>
            <a:off x="320040" y="749808"/>
            <a:ext cx="8503920" cy="475488"/>
          </a:xfrm>
          <a:prstGeom prst="rect">
            <a:avLst/>
          </a:prstGeom>
          <a:solidFill>
            <a:srgbClr val="EAF6FC"/>
          </a:solidFill>
          <a:ln w="9525">
            <a:solidFill>
              <a:srgbClr val="58B9DA"/>
            </a:solidFill>
            <a:prstDash val="solid"/>
          </a:ln>
        </p:spPr>
      </p:sp>
      <p:sp>
        <p:nvSpPr>
          <p:cNvPr id="5" name="Shape 3"/>
          <p:cNvSpPr/>
          <p:nvPr/>
        </p:nvSpPr>
        <p:spPr>
          <a:xfrm>
            <a:off x="320040" y="749808"/>
            <a:ext cx="64008" cy="475488"/>
          </a:xfrm>
          <a:prstGeom prst="rect">
            <a:avLst/>
          </a:prstGeom>
          <a:solidFill>
            <a:srgbClr val="58B9DA"/>
          </a:solidFill>
          <a:ln w="12700">
            <a:solidFill>
              <a:srgbClr val="58B9DA"/>
            </a:solidFill>
            <a:prstDash val="solid"/>
          </a:ln>
        </p:spPr>
      </p:sp>
      <p:sp>
        <p:nvSpPr>
          <p:cNvPr id="6" name="Text 4"/>
          <p:cNvSpPr/>
          <p:nvPr/>
        </p:nvSpPr>
        <p:spPr>
          <a:xfrm>
            <a:off x="502920" y="745617"/>
            <a:ext cx="1828800" cy="201168"/>
          </a:xfrm>
          <a:prstGeom prst="rect">
            <a:avLst/>
          </a:prstGeom>
          <a:noFill/>
        </p:spPr>
        <p:txBody>
          <a:bodyPr wrap="square" lIns="0" tIns="0" rIns="0" bIns="0" rtlCol="0" anchor="ctr"/>
          <a:lstStyle/>
          <a:p>
            <a:pPr marL="0" indent="0">
              <a:buNone/>
            </a:pPr>
            <a:r>
              <a:rPr lang="en-US" sz="900" b="1" dirty="0">
                <a:solidFill>
                  <a:srgbClr val="58B9DA"/>
                </a:solidFill>
              </a:rPr>
              <a:t>How to read this graph: </a:t>
            </a:r>
            <a:endParaRPr lang="en-US" sz="900" dirty="0"/>
          </a:p>
        </p:txBody>
      </p:sp>
      <p:sp>
        <p:nvSpPr>
          <p:cNvPr id="7" name="Text 5"/>
          <p:cNvSpPr/>
          <p:nvPr/>
        </p:nvSpPr>
        <p:spPr>
          <a:xfrm>
            <a:off x="474980" y="868807"/>
            <a:ext cx="8275320" cy="365760"/>
          </a:xfrm>
          <a:prstGeom prst="rect">
            <a:avLst/>
          </a:prstGeom>
          <a:noFill/>
        </p:spPr>
        <p:txBody>
          <a:bodyPr wrap="square" lIns="0" tIns="0" rIns="0" bIns="0" rtlCol="0" anchor="ctr"/>
          <a:lstStyle/>
          <a:p>
            <a:pPr marL="0" indent="0">
              <a:buNone/>
            </a:pPr>
            <a:r>
              <a:rPr lang="en-US" sz="850" dirty="0">
                <a:solidFill>
                  <a:srgbClr val="1E2A32"/>
                </a:solidFill>
              </a:rPr>
              <a:t>X-axis = training set size. Y-axis = F1 score. Solid line = training score; dashed = validation score. A wide gap between solid and dashed means the model memorises training data but fails to generalise. Coincident flat lines near zero means the model is too simple to learn anything.</a:t>
            </a:r>
            <a:endParaRPr lang="en-US" sz="850" dirty="0"/>
          </a:p>
        </p:txBody>
      </p:sp>
      <p:sp>
        <p:nvSpPr>
          <p:cNvPr id="8" name="Shape 6"/>
          <p:cNvSpPr/>
          <p:nvPr/>
        </p:nvSpPr>
        <p:spPr>
          <a:xfrm>
            <a:off x="320040" y="1335024"/>
            <a:ext cx="4114800" cy="3639312"/>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9" name="Shape 7"/>
          <p:cNvSpPr/>
          <p:nvPr/>
        </p:nvSpPr>
        <p:spPr>
          <a:xfrm>
            <a:off x="320040" y="1335024"/>
            <a:ext cx="4114800" cy="91440"/>
          </a:xfrm>
          <a:prstGeom prst="rect">
            <a:avLst/>
          </a:prstGeom>
          <a:solidFill>
            <a:srgbClr val="A9B8C3"/>
          </a:solidFill>
          <a:ln w="12700">
            <a:solidFill>
              <a:srgbClr val="A9B8C3"/>
            </a:solidFill>
            <a:prstDash val="solid"/>
          </a:ln>
        </p:spPr>
      </p:sp>
      <p:sp>
        <p:nvSpPr>
          <p:cNvPr id="10" name="Text 8"/>
          <p:cNvSpPr/>
          <p:nvPr/>
        </p:nvSpPr>
        <p:spPr>
          <a:xfrm>
            <a:off x="429768" y="1444752"/>
            <a:ext cx="2743200" cy="347472"/>
          </a:xfrm>
          <a:prstGeom prst="rect">
            <a:avLst/>
          </a:prstGeom>
          <a:noFill/>
        </p:spPr>
        <p:txBody>
          <a:bodyPr wrap="square" lIns="0" tIns="0" rIns="0" bIns="0" rtlCol="0" anchor="ctr"/>
          <a:lstStyle/>
          <a:p>
            <a:pPr marL="0" indent="0">
              <a:buNone/>
            </a:pPr>
            <a:r>
              <a:rPr lang="en-US" sz="1400" b="1" dirty="0">
                <a:solidFill>
                  <a:srgbClr val="A9B8C3"/>
                </a:solidFill>
                <a:latin typeface="Calibri" panose="020F0502020204030204" pitchFamily="34" charset="0"/>
                <a:ea typeface="Calibri" panose="020F0502020204030204" pitchFamily="34" charset="-122"/>
                <a:cs typeface="Calibri" panose="020F0502020204030204" pitchFamily="34" charset="-120"/>
              </a:rPr>
              <a:t>UNDERFITTING</a:t>
            </a:r>
            <a:endParaRPr lang="en-US" sz="1400" dirty="0"/>
          </a:p>
        </p:txBody>
      </p:sp>
      <p:sp>
        <p:nvSpPr>
          <p:cNvPr id="11" name="Text 9"/>
          <p:cNvSpPr/>
          <p:nvPr/>
        </p:nvSpPr>
        <p:spPr>
          <a:xfrm>
            <a:off x="429768" y="1675130"/>
            <a:ext cx="3840480" cy="256032"/>
          </a:xfrm>
          <a:prstGeom prst="rect">
            <a:avLst/>
          </a:prstGeom>
          <a:noFill/>
        </p:spPr>
        <p:txBody>
          <a:bodyPr wrap="square" lIns="0" tIns="0" rIns="0" bIns="0" rtlCol="0" anchor="ctr"/>
          <a:lstStyle/>
          <a:p>
            <a:pPr marL="0" indent="0">
              <a:buNone/>
            </a:pPr>
            <a:r>
              <a:rPr lang="en-US" sz="900" i="1" dirty="0">
                <a:solidFill>
                  <a:srgbClr val="A9B8C3"/>
                </a:solidFill>
              </a:rPr>
              <a:t>C=0.001  ·  3 features only</a:t>
            </a:r>
            <a:endParaRPr lang="en-US" sz="900" dirty="0"/>
          </a:p>
        </p:txBody>
      </p:sp>
      <p:grpSp>
        <p:nvGrpSpPr>
          <p:cNvPr id="41" name="Group 40"/>
          <p:cNvGrpSpPr/>
          <p:nvPr/>
        </p:nvGrpSpPr>
        <p:grpSpPr>
          <a:xfrm>
            <a:off x="429260" y="1909445"/>
            <a:ext cx="3840480" cy="574675"/>
            <a:chOff x="677" y="3341"/>
            <a:chExt cx="5702" cy="1122"/>
          </a:xfrm>
        </p:grpSpPr>
        <p:sp>
          <p:nvSpPr>
            <p:cNvPr id="12" name="Shape 10"/>
            <p:cNvSpPr/>
            <p:nvPr/>
          </p:nvSpPr>
          <p:spPr>
            <a:xfrm>
              <a:off x="677" y="3341"/>
              <a:ext cx="1728" cy="1123"/>
            </a:xfrm>
            <a:prstGeom prst="rect">
              <a:avLst/>
            </a:prstGeom>
            <a:solidFill>
              <a:srgbClr val="FFFFFF"/>
            </a:solidFill>
            <a:ln w="12700">
              <a:solidFill>
                <a:srgbClr val="D0DCE6"/>
              </a:solidFill>
              <a:prstDash val="solid"/>
            </a:ln>
          </p:spPr>
        </p:sp>
        <p:sp>
          <p:nvSpPr>
            <p:cNvPr id="13" name="Text 11"/>
            <p:cNvSpPr/>
            <p:nvPr/>
          </p:nvSpPr>
          <p:spPr>
            <a:xfrm>
              <a:off x="677" y="3384"/>
              <a:ext cx="1728" cy="605"/>
            </a:xfrm>
            <a:prstGeom prst="rect">
              <a:avLst/>
            </a:prstGeom>
            <a:noFill/>
          </p:spPr>
          <p:txBody>
            <a:bodyPr wrap="square" lIns="0" tIns="0" rIns="0" bIns="0" rtlCol="0" anchor="ctr"/>
            <a:lstStyle/>
            <a:p>
              <a:pPr marL="0" indent="0" algn="ctr">
                <a:buNone/>
              </a:pPr>
              <a:r>
                <a:rPr lang="en-US" sz="1800" b="1" dirty="0">
                  <a:solidFill>
                    <a:srgbClr val="A9B8C3"/>
                  </a:solidFill>
                </a:rPr>
                <a:t>0.800</a:t>
              </a:r>
              <a:endParaRPr lang="en-US" sz="1800" dirty="0"/>
            </a:p>
          </p:txBody>
        </p:sp>
        <p:sp>
          <p:nvSpPr>
            <p:cNvPr id="14" name="Text 12"/>
            <p:cNvSpPr/>
            <p:nvPr/>
          </p:nvSpPr>
          <p:spPr>
            <a:xfrm>
              <a:off x="677"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Accuracy</a:t>
              </a:r>
              <a:endParaRPr lang="en-US" sz="750" dirty="0"/>
            </a:p>
          </p:txBody>
        </p:sp>
        <p:sp>
          <p:nvSpPr>
            <p:cNvPr id="15" name="Shape 13"/>
            <p:cNvSpPr/>
            <p:nvPr/>
          </p:nvSpPr>
          <p:spPr>
            <a:xfrm>
              <a:off x="2664" y="3341"/>
              <a:ext cx="1728" cy="1123"/>
            </a:xfrm>
            <a:prstGeom prst="rect">
              <a:avLst/>
            </a:prstGeom>
            <a:solidFill>
              <a:srgbClr val="FFFFFF"/>
            </a:solidFill>
            <a:ln w="12700">
              <a:solidFill>
                <a:srgbClr val="D0DCE6"/>
              </a:solidFill>
              <a:prstDash val="solid"/>
            </a:ln>
          </p:spPr>
        </p:sp>
        <p:sp>
          <p:nvSpPr>
            <p:cNvPr id="16" name="Text 14"/>
            <p:cNvSpPr/>
            <p:nvPr/>
          </p:nvSpPr>
          <p:spPr>
            <a:xfrm>
              <a:off x="2664" y="3384"/>
              <a:ext cx="1728" cy="605"/>
            </a:xfrm>
            <a:prstGeom prst="rect">
              <a:avLst/>
            </a:prstGeom>
            <a:noFill/>
          </p:spPr>
          <p:txBody>
            <a:bodyPr wrap="square" lIns="0" tIns="0" rIns="0" bIns="0" rtlCol="0" anchor="ctr"/>
            <a:lstStyle/>
            <a:p>
              <a:pPr marL="0" indent="0" algn="ctr">
                <a:buNone/>
              </a:pPr>
              <a:r>
                <a:rPr lang="en-US" sz="1800" b="1" dirty="0">
                  <a:solidFill>
                    <a:srgbClr val="A9B8C3"/>
                  </a:solidFill>
                </a:rPr>
                <a:t>0.000</a:t>
              </a:r>
              <a:endParaRPr lang="en-US" sz="1800" dirty="0"/>
            </a:p>
          </p:txBody>
        </p:sp>
        <p:sp>
          <p:nvSpPr>
            <p:cNvPr id="17" name="Text 15"/>
            <p:cNvSpPr/>
            <p:nvPr/>
          </p:nvSpPr>
          <p:spPr>
            <a:xfrm>
              <a:off x="2664"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F1-Score</a:t>
              </a:r>
              <a:endParaRPr lang="en-US" sz="750" dirty="0"/>
            </a:p>
          </p:txBody>
        </p:sp>
        <p:sp>
          <p:nvSpPr>
            <p:cNvPr id="18" name="Shape 16"/>
            <p:cNvSpPr/>
            <p:nvPr/>
          </p:nvSpPr>
          <p:spPr>
            <a:xfrm>
              <a:off x="4651" y="3341"/>
              <a:ext cx="1728" cy="1123"/>
            </a:xfrm>
            <a:prstGeom prst="rect">
              <a:avLst/>
            </a:prstGeom>
            <a:solidFill>
              <a:srgbClr val="FFFFFF"/>
            </a:solidFill>
            <a:ln w="12700">
              <a:solidFill>
                <a:srgbClr val="D0DCE6"/>
              </a:solidFill>
              <a:prstDash val="solid"/>
            </a:ln>
          </p:spPr>
        </p:sp>
        <p:sp>
          <p:nvSpPr>
            <p:cNvPr id="19" name="Text 17"/>
            <p:cNvSpPr/>
            <p:nvPr/>
          </p:nvSpPr>
          <p:spPr>
            <a:xfrm>
              <a:off x="4651" y="3384"/>
              <a:ext cx="1728" cy="605"/>
            </a:xfrm>
            <a:prstGeom prst="rect">
              <a:avLst/>
            </a:prstGeom>
            <a:noFill/>
          </p:spPr>
          <p:txBody>
            <a:bodyPr wrap="square" lIns="0" tIns="0" rIns="0" bIns="0" rtlCol="0" anchor="ctr"/>
            <a:lstStyle/>
            <a:p>
              <a:pPr marL="0" indent="0" algn="ctr">
                <a:buNone/>
              </a:pPr>
              <a:r>
                <a:rPr lang="en-US" sz="1800" b="1" dirty="0">
                  <a:solidFill>
                    <a:srgbClr val="A9B8C3"/>
                  </a:solidFill>
                </a:rPr>
                <a:t>0.447</a:t>
              </a:r>
              <a:endParaRPr lang="en-US" sz="1800" dirty="0"/>
            </a:p>
          </p:txBody>
        </p:sp>
        <p:sp>
          <p:nvSpPr>
            <p:cNvPr id="20" name="Text 18"/>
            <p:cNvSpPr/>
            <p:nvPr/>
          </p:nvSpPr>
          <p:spPr>
            <a:xfrm>
              <a:off x="4651"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PR-AUC</a:t>
              </a:r>
              <a:endParaRPr lang="en-US" sz="750" dirty="0"/>
            </a:p>
          </p:txBody>
        </p:sp>
      </p:grpSp>
      <p:sp>
        <p:nvSpPr>
          <p:cNvPr id="22" name="Text 20"/>
          <p:cNvSpPr/>
          <p:nvPr/>
        </p:nvSpPr>
        <p:spPr>
          <a:xfrm>
            <a:off x="429895" y="2659380"/>
            <a:ext cx="3886200" cy="1363980"/>
          </a:xfrm>
          <a:prstGeom prst="rect">
            <a:avLst/>
          </a:prstGeom>
          <a:noFill/>
        </p:spPr>
        <p:txBody>
          <a:bodyPr wrap="square" lIns="50800" tIns="50800" rIns="50800" bIns="50800" rtlCol="0" anchor="ctr"/>
          <a:lstStyle/>
          <a:p>
            <a:pPr marL="0" indent="0" algn="ctr">
              <a:buNone/>
            </a:pPr>
            <a:r>
              <a:rPr lang="en-US" sz="850" i="1" dirty="0">
                <a:solidFill>
                  <a:srgbClr val="A9B8C3"/>
                </a:solidFill>
              </a:rPr>
              <a:t>[Insert learning_curves.png — UNDERFITTING panel]</a:t>
            </a:r>
            <a:endParaRPr lang="en-US" sz="850" dirty="0"/>
          </a:p>
        </p:txBody>
      </p:sp>
      <p:sp>
        <p:nvSpPr>
          <p:cNvPr id="23" name="Text 21"/>
          <p:cNvSpPr/>
          <p:nvPr/>
        </p:nvSpPr>
        <p:spPr>
          <a:xfrm>
            <a:off x="429768" y="4096512"/>
            <a:ext cx="3886200" cy="80467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Both curves are flat and coincident near zero — classic high-bias signature. The model is too constrained to fit either class, defaulting to predicting non-seizure 100% of the time. Strong regularisation (small C) combined with only 3 features gives the model no room to learn.</a:t>
            </a:r>
            <a:endParaRPr lang="en-US" sz="850" dirty="0"/>
          </a:p>
        </p:txBody>
      </p:sp>
      <p:sp>
        <p:nvSpPr>
          <p:cNvPr id="24" name="Shape 22"/>
          <p:cNvSpPr/>
          <p:nvPr/>
        </p:nvSpPr>
        <p:spPr>
          <a:xfrm>
            <a:off x="4800600" y="1335024"/>
            <a:ext cx="4114800" cy="3639312"/>
          </a:xfrm>
          <a:prstGeom prst="rect">
            <a:avLst/>
          </a:prstGeom>
          <a:solidFill>
            <a:srgbClr val="FFFFFF"/>
          </a:solidFill>
          <a:ln w="12700">
            <a:solidFill>
              <a:srgbClr val="E0E8EE"/>
            </a:solidFill>
            <a:prstDash val="solid"/>
          </a:ln>
          <a:effectLst>
            <a:outerShdw blurRad="76200" dist="25400" dir="8100000" algn="bl" rotWithShape="0">
              <a:srgbClr val="000000">
                <a:alpha val="7000"/>
              </a:srgbClr>
            </a:outerShdw>
          </a:effectLst>
        </p:spPr>
      </p:sp>
      <p:sp>
        <p:nvSpPr>
          <p:cNvPr id="25" name="Shape 23"/>
          <p:cNvSpPr/>
          <p:nvPr/>
        </p:nvSpPr>
        <p:spPr>
          <a:xfrm>
            <a:off x="4800600" y="1335024"/>
            <a:ext cx="4114800" cy="91440"/>
          </a:xfrm>
          <a:prstGeom prst="rect">
            <a:avLst/>
          </a:prstGeom>
          <a:solidFill>
            <a:srgbClr val="C0392B"/>
          </a:solidFill>
          <a:ln w="12700">
            <a:solidFill>
              <a:srgbClr val="C0392B"/>
            </a:solidFill>
            <a:prstDash val="solid"/>
          </a:ln>
        </p:spPr>
      </p:sp>
      <p:sp>
        <p:nvSpPr>
          <p:cNvPr id="26" name="Text 24"/>
          <p:cNvSpPr/>
          <p:nvPr/>
        </p:nvSpPr>
        <p:spPr>
          <a:xfrm>
            <a:off x="4910328" y="1444752"/>
            <a:ext cx="2743200" cy="347472"/>
          </a:xfrm>
          <a:prstGeom prst="rect">
            <a:avLst/>
          </a:prstGeom>
          <a:noFill/>
        </p:spPr>
        <p:txBody>
          <a:bodyPr wrap="square" lIns="0" tIns="0" rIns="0" bIns="0" rtlCol="0" anchor="ctr"/>
          <a:lstStyle/>
          <a:p>
            <a:pPr marL="0" indent="0">
              <a:buNone/>
            </a:pPr>
            <a:r>
              <a:rPr lang="en-US" sz="1400" b="1" dirty="0">
                <a:solidFill>
                  <a:srgbClr val="C0392B"/>
                </a:solidFill>
                <a:latin typeface="Calibri" panose="020F0502020204030204" pitchFamily="34" charset="0"/>
                <a:ea typeface="Calibri" panose="020F0502020204030204" pitchFamily="34" charset="-122"/>
                <a:cs typeface="Calibri" panose="020F0502020204030204" pitchFamily="34" charset="-120"/>
              </a:rPr>
              <a:t>OVERFITTING</a:t>
            </a:r>
            <a:endParaRPr lang="en-US" sz="1400" dirty="0"/>
          </a:p>
        </p:txBody>
      </p:sp>
      <p:sp>
        <p:nvSpPr>
          <p:cNvPr id="27" name="Text 25"/>
          <p:cNvSpPr/>
          <p:nvPr/>
        </p:nvSpPr>
        <p:spPr>
          <a:xfrm>
            <a:off x="4909693" y="1676400"/>
            <a:ext cx="3840480" cy="256032"/>
          </a:xfrm>
          <a:prstGeom prst="rect">
            <a:avLst/>
          </a:prstGeom>
          <a:noFill/>
        </p:spPr>
        <p:txBody>
          <a:bodyPr wrap="square" lIns="0" tIns="0" rIns="0" bIns="0" rtlCol="0" anchor="ctr"/>
          <a:lstStyle/>
          <a:p>
            <a:pPr marL="0" indent="0">
              <a:buNone/>
            </a:pPr>
            <a:r>
              <a:rPr lang="en-US" sz="900" i="1" dirty="0">
                <a:solidFill>
                  <a:srgbClr val="A9B8C3"/>
                </a:solidFill>
              </a:rPr>
              <a:t>C=1,000,000  ·  all 178 features</a:t>
            </a:r>
            <a:endParaRPr lang="en-US" sz="900" dirty="0"/>
          </a:p>
        </p:txBody>
      </p:sp>
      <p:grpSp>
        <p:nvGrpSpPr>
          <p:cNvPr id="44" name="Group 43"/>
          <p:cNvGrpSpPr/>
          <p:nvPr/>
        </p:nvGrpSpPr>
        <p:grpSpPr>
          <a:xfrm>
            <a:off x="4969510" y="1899285"/>
            <a:ext cx="3867785" cy="527685"/>
            <a:chOff x="7733" y="3341"/>
            <a:chExt cx="5702" cy="1122"/>
          </a:xfrm>
        </p:grpSpPr>
        <p:sp>
          <p:nvSpPr>
            <p:cNvPr id="28" name="Shape 26"/>
            <p:cNvSpPr/>
            <p:nvPr/>
          </p:nvSpPr>
          <p:spPr>
            <a:xfrm>
              <a:off x="7733" y="3341"/>
              <a:ext cx="1728" cy="1123"/>
            </a:xfrm>
            <a:prstGeom prst="rect">
              <a:avLst/>
            </a:prstGeom>
            <a:solidFill>
              <a:srgbClr val="FFFFFF"/>
            </a:solidFill>
            <a:ln w="12700">
              <a:solidFill>
                <a:srgbClr val="D0DCE6"/>
              </a:solidFill>
              <a:prstDash val="solid"/>
            </a:ln>
          </p:spPr>
        </p:sp>
        <p:sp>
          <p:nvSpPr>
            <p:cNvPr id="29" name="Text 27"/>
            <p:cNvSpPr/>
            <p:nvPr/>
          </p:nvSpPr>
          <p:spPr>
            <a:xfrm>
              <a:off x="7733" y="3384"/>
              <a:ext cx="1728" cy="605"/>
            </a:xfrm>
            <a:prstGeom prst="rect">
              <a:avLst/>
            </a:prstGeom>
            <a:noFill/>
          </p:spPr>
          <p:txBody>
            <a:bodyPr wrap="square" lIns="0" tIns="0" rIns="0" bIns="0" rtlCol="0" anchor="ctr"/>
            <a:lstStyle/>
            <a:p>
              <a:pPr marL="0" indent="0" algn="ctr">
                <a:buNone/>
              </a:pPr>
              <a:r>
                <a:rPr lang="en-US" sz="1800" b="1" dirty="0">
                  <a:solidFill>
                    <a:srgbClr val="C0392B"/>
                  </a:solidFill>
                </a:rPr>
                <a:t>0.813</a:t>
              </a:r>
              <a:endParaRPr lang="en-US" sz="1800" dirty="0"/>
            </a:p>
          </p:txBody>
        </p:sp>
        <p:sp>
          <p:nvSpPr>
            <p:cNvPr id="30" name="Text 28"/>
            <p:cNvSpPr/>
            <p:nvPr/>
          </p:nvSpPr>
          <p:spPr>
            <a:xfrm>
              <a:off x="7733"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Accuracy</a:t>
              </a:r>
              <a:endParaRPr lang="en-US" sz="750" dirty="0"/>
            </a:p>
          </p:txBody>
        </p:sp>
        <p:sp>
          <p:nvSpPr>
            <p:cNvPr id="31" name="Shape 29"/>
            <p:cNvSpPr/>
            <p:nvPr/>
          </p:nvSpPr>
          <p:spPr>
            <a:xfrm>
              <a:off x="9720" y="3341"/>
              <a:ext cx="1728" cy="1123"/>
            </a:xfrm>
            <a:prstGeom prst="rect">
              <a:avLst/>
            </a:prstGeom>
            <a:solidFill>
              <a:srgbClr val="FFFFFF"/>
            </a:solidFill>
            <a:ln w="12700">
              <a:solidFill>
                <a:srgbClr val="D0DCE6"/>
              </a:solidFill>
              <a:prstDash val="solid"/>
            </a:ln>
          </p:spPr>
        </p:sp>
        <p:sp>
          <p:nvSpPr>
            <p:cNvPr id="32" name="Text 30"/>
            <p:cNvSpPr/>
            <p:nvPr/>
          </p:nvSpPr>
          <p:spPr>
            <a:xfrm>
              <a:off x="9720" y="3384"/>
              <a:ext cx="1728" cy="605"/>
            </a:xfrm>
            <a:prstGeom prst="rect">
              <a:avLst/>
            </a:prstGeom>
            <a:noFill/>
          </p:spPr>
          <p:txBody>
            <a:bodyPr wrap="square" lIns="0" tIns="0" rIns="0" bIns="0" rtlCol="0" anchor="ctr"/>
            <a:lstStyle/>
            <a:p>
              <a:pPr marL="0" indent="0" algn="ctr">
                <a:buNone/>
              </a:pPr>
              <a:r>
                <a:rPr lang="en-US" sz="1800" b="1" dirty="0">
                  <a:solidFill>
                    <a:srgbClr val="C0392B"/>
                  </a:solidFill>
                </a:rPr>
                <a:t>0.120</a:t>
              </a:r>
              <a:endParaRPr lang="en-US" sz="1800" dirty="0"/>
            </a:p>
          </p:txBody>
        </p:sp>
        <p:sp>
          <p:nvSpPr>
            <p:cNvPr id="33" name="Text 31"/>
            <p:cNvSpPr/>
            <p:nvPr/>
          </p:nvSpPr>
          <p:spPr>
            <a:xfrm>
              <a:off x="9720"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F1-Score</a:t>
              </a:r>
              <a:endParaRPr lang="en-US" sz="750" dirty="0"/>
            </a:p>
          </p:txBody>
        </p:sp>
        <p:sp>
          <p:nvSpPr>
            <p:cNvPr id="34" name="Shape 32"/>
            <p:cNvSpPr/>
            <p:nvPr/>
          </p:nvSpPr>
          <p:spPr>
            <a:xfrm>
              <a:off x="11707" y="3341"/>
              <a:ext cx="1728" cy="1123"/>
            </a:xfrm>
            <a:prstGeom prst="rect">
              <a:avLst/>
            </a:prstGeom>
            <a:solidFill>
              <a:srgbClr val="FFFFFF"/>
            </a:solidFill>
            <a:ln w="12700">
              <a:solidFill>
                <a:srgbClr val="D0DCE6"/>
              </a:solidFill>
              <a:prstDash val="solid"/>
            </a:ln>
          </p:spPr>
        </p:sp>
        <p:sp>
          <p:nvSpPr>
            <p:cNvPr id="35" name="Text 33"/>
            <p:cNvSpPr/>
            <p:nvPr/>
          </p:nvSpPr>
          <p:spPr>
            <a:xfrm>
              <a:off x="11707" y="3384"/>
              <a:ext cx="1728" cy="605"/>
            </a:xfrm>
            <a:prstGeom prst="rect">
              <a:avLst/>
            </a:prstGeom>
            <a:noFill/>
          </p:spPr>
          <p:txBody>
            <a:bodyPr wrap="square" lIns="0" tIns="0" rIns="0" bIns="0" rtlCol="0" anchor="ctr"/>
            <a:lstStyle/>
            <a:p>
              <a:pPr marL="0" indent="0" algn="ctr">
                <a:buNone/>
              </a:pPr>
              <a:r>
                <a:rPr lang="en-US" sz="1800" b="1" dirty="0">
                  <a:solidFill>
                    <a:srgbClr val="C0392B"/>
                  </a:solidFill>
                </a:rPr>
                <a:t>0.497</a:t>
              </a:r>
              <a:endParaRPr lang="en-US" sz="1800" dirty="0"/>
            </a:p>
          </p:txBody>
        </p:sp>
        <p:sp>
          <p:nvSpPr>
            <p:cNvPr id="36" name="Text 34"/>
            <p:cNvSpPr/>
            <p:nvPr/>
          </p:nvSpPr>
          <p:spPr>
            <a:xfrm>
              <a:off x="11707" y="3989"/>
              <a:ext cx="1728" cy="360"/>
            </a:xfrm>
            <a:prstGeom prst="rect">
              <a:avLst/>
            </a:prstGeom>
            <a:noFill/>
          </p:spPr>
          <p:txBody>
            <a:bodyPr wrap="square" lIns="0" tIns="0" rIns="0" bIns="0" rtlCol="0" anchor="ctr"/>
            <a:lstStyle/>
            <a:p>
              <a:pPr marL="0" indent="0" algn="ctr">
                <a:buNone/>
              </a:pPr>
              <a:r>
                <a:rPr lang="en-US" sz="750" dirty="0">
                  <a:solidFill>
                    <a:srgbClr val="A9B8C3"/>
                  </a:solidFill>
                </a:rPr>
                <a:t>PR-AUC</a:t>
              </a:r>
              <a:endParaRPr lang="en-US" sz="750" dirty="0"/>
            </a:p>
          </p:txBody>
        </p:sp>
      </p:grpSp>
      <p:sp>
        <p:nvSpPr>
          <p:cNvPr id="38" name="Text 36"/>
          <p:cNvSpPr/>
          <p:nvPr/>
        </p:nvSpPr>
        <p:spPr>
          <a:xfrm>
            <a:off x="4910328" y="2926080"/>
            <a:ext cx="3886200" cy="1097280"/>
          </a:xfrm>
          <a:prstGeom prst="rect">
            <a:avLst/>
          </a:prstGeom>
          <a:noFill/>
        </p:spPr>
        <p:txBody>
          <a:bodyPr wrap="square" lIns="50800" tIns="50800" rIns="50800" bIns="50800" rtlCol="0" anchor="ctr"/>
          <a:lstStyle/>
          <a:p>
            <a:pPr marL="0" indent="0" algn="ctr">
              <a:buNone/>
            </a:pPr>
            <a:r>
              <a:rPr lang="en-US" sz="850" i="1" dirty="0">
                <a:solidFill>
                  <a:srgbClr val="A9B8C3"/>
                </a:solidFill>
              </a:rPr>
              <a:t>[Insert learning_curves.png — OVERFITTING panel]</a:t>
            </a:r>
            <a:endParaRPr lang="en-US" sz="850" dirty="0"/>
          </a:p>
        </p:txBody>
      </p:sp>
      <p:sp>
        <p:nvSpPr>
          <p:cNvPr id="39" name="Text 37"/>
          <p:cNvSpPr/>
          <p:nvPr/>
        </p:nvSpPr>
        <p:spPr>
          <a:xfrm>
            <a:off x="4910328" y="4096512"/>
            <a:ext cx="3886200" cy="804672"/>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Training F1 starts high but validation F1 is substantially lower, especially at small sample sizes. The gap closes as training data grows, but never fully. The model fits noise in the training data — 178 correlated EEG features with near-zero regularisation is a perfect recipe for overfitting.</a:t>
            </a:r>
            <a:endParaRPr lang="en-US" sz="850" dirty="0"/>
          </a:p>
        </p:txBody>
      </p:sp>
      <p:pic>
        <p:nvPicPr>
          <p:cNvPr id="40" name="Picture 39"/>
          <p:cNvPicPr>
            <a:picLocks noChangeAspect="1"/>
          </p:cNvPicPr>
          <p:nvPr/>
        </p:nvPicPr>
        <p:blipFill>
          <a:blip r:embed="rId1"/>
          <a:srcRect t="13056" r="50672" b="5551"/>
          <a:stretch>
            <a:fillRect/>
          </a:stretch>
        </p:blipFill>
        <p:spPr>
          <a:xfrm>
            <a:off x="502920" y="2539365"/>
            <a:ext cx="3517900" cy="1563370"/>
          </a:xfrm>
          <a:prstGeom prst="rect">
            <a:avLst/>
          </a:prstGeom>
        </p:spPr>
      </p:pic>
      <p:pic>
        <p:nvPicPr>
          <p:cNvPr id="43" name="Picture 42"/>
          <p:cNvPicPr>
            <a:picLocks noChangeAspect="1"/>
          </p:cNvPicPr>
          <p:nvPr/>
        </p:nvPicPr>
        <p:blipFill>
          <a:blip r:embed="rId1"/>
          <a:srcRect l="51572" t="12692" r="-900" b="5915"/>
          <a:stretch>
            <a:fillRect/>
          </a:stretch>
        </p:blipFill>
        <p:spPr>
          <a:xfrm>
            <a:off x="5094605" y="2534920"/>
            <a:ext cx="3517900" cy="1563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2" name="Rectangles 31"/>
          <p:cNvSpPr/>
          <p:nvPr/>
        </p:nvSpPr>
        <p:spPr>
          <a:xfrm>
            <a:off x="320040" y="1243965"/>
            <a:ext cx="8503920" cy="2508250"/>
          </a:xfrm>
          <a:prstGeom prst="rect">
            <a:avLst/>
          </a:prstGeom>
          <a:solidFill>
            <a:srgbClr val="1E2A3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2" name="Shape 0"/>
          <p:cNvSpPr/>
          <p:nvPr/>
        </p:nvSpPr>
        <p:spPr>
          <a:xfrm>
            <a:off x="0" y="0"/>
            <a:ext cx="9144000" cy="658368"/>
          </a:xfrm>
          <a:prstGeom prst="rect">
            <a:avLst/>
          </a:prstGeom>
          <a:solidFill>
            <a:srgbClr val="1E2A32"/>
          </a:solidFill>
          <a:ln w="12700">
            <a:solidFill>
              <a:srgbClr val="1E2A32"/>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  |  Regularisation — Sparsity Analysis</a:t>
            </a:r>
            <a:endParaRPr lang="en-US" sz="1900" dirty="0"/>
          </a:p>
        </p:txBody>
      </p:sp>
      <p:sp>
        <p:nvSpPr>
          <p:cNvPr id="4" name="Shape 2"/>
          <p:cNvSpPr/>
          <p:nvPr/>
        </p:nvSpPr>
        <p:spPr>
          <a:xfrm>
            <a:off x="320040" y="749808"/>
            <a:ext cx="8503920" cy="475488"/>
          </a:xfrm>
          <a:prstGeom prst="rect">
            <a:avLst/>
          </a:prstGeom>
          <a:solidFill>
            <a:srgbClr val="F2F6E8"/>
          </a:solidFill>
          <a:ln w="9525">
            <a:solidFill>
              <a:srgbClr val="8DAC28"/>
            </a:solidFill>
            <a:prstDash val="solid"/>
          </a:ln>
        </p:spPr>
      </p:sp>
      <p:sp>
        <p:nvSpPr>
          <p:cNvPr id="5" name="Shape 3"/>
          <p:cNvSpPr/>
          <p:nvPr/>
        </p:nvSpPr>
        <p:spPr>
          <a:xfrm>
            <a:off x="320040" y="749808"/>
            <a:ext cx="64008" cy="475488"/>
          </a:xfrm>
          <a:prstGeom prst="rect">
            <a:avLst/>
          </a:prstGeom>
          <a:solidFill>
            <a:srgbClr val="8DAC28"/>
          </a:solidFill>
          <a:ln w="12700">
            <a:solidFill>
              <a:srgbClr val="8DAC28"/>
            </a:solidFill>
            <a:prstDash val="solid"/>
          </a:ln>
        </p:spPr>
      </p:sp>
      <p:sp>
        <p:nvSpPr>
          <p:cNvPr id="6" name="Text 4"/>
          <p:cNvSpPr/>
          <p:nvPr/>
        </p:nvSpPr>
        <p:spPr>
          <a:xfrm>
            <a:off x="502920" y="750062"/>
            <a:ext cx="1828800" cy="201168"/>
          </a:xfrm>
          <a:prstGeom prst="rect">
            <a:avLst/>
          </a:prstGeom>
          <a:noFill/>
        </p:spPr>
        <p:txBody>
          <a:bodyPr wrap="square" lIns="0" tIns="0" rIns="0" bIns="0" rtlCol="0" anchor="ctr"/>
          <a:lstStyle/>
          <a:p>
            <a:pPr marL="0" indent="0">
              <a:buNone/>
            </a:pPr>
            <a:r>
              <a:rPr lang="en-US" sz="900" b="1" dirty="0">
                <a:solidFill>
                  <a:srgbClr val="8DAC28"/>
                </a:solidFill>
              </a:rPr>
              <a:t>How to read this graph: </a:t>
            </a:r>
            <a:endParaRPr lang="en-US" sz="900" dirty="0"/>
          </a:p>
        </p:txBody>
      </p:sp>
      <p:sp>
        <p:nvSpPr>
          <p:cNvPr id="7" name="Text 5"/>
          <p:cNvSpPr/>
          <p:nvPr/>
        </p:nvSpPr>
        <p:spPr>
          <a:xfrm>
            <a:off x="466090" y="878332"/>
            <a:ext cx="8275320" cy="365760"/>
          </a:xfrm>
          <a:prstGeom prst="rect">
            <a:avLst/>
          </a:prstGeom>
          <a:noFill/>
        </p:spPr>
        <p:txBody>
          <a:bodyPr wrap="square" lIns="0" tIns="0" rIns="0" bIns="0" rtlCol="0" anchor="ctr"/>
          <a:lstStyle/>
          <a:p>
            <a:pPr marL="0" indent="0">
              <a:buNone/>
            </a:pPr>
            <a:r>
              <a:rPr lang="en-US" sz="850" dirty="0">
                <a:solidFill>
                  <a:srgbClr val="1E2A32"/>
                </a:solidFill>
              </a:rPr>
              <a:t>X-axis = C (inverse regularisation strength; larger C = less regularisation). Y-axis = % of model coefficients that are exactly zero (sparsity). High sparsity = model uses fewer features. L2 never creates zeros. L1 and Elastic Net zero-out features aggressively at low C.</a:t>
            </a:r>
            <a:endParaRPr lang="en-US" sz="850" dirty="0"/>
          </a:p>
        </p:txBody>
      </p:sp>
      <p:grpSp>
        <p:nvGrpSpPr>
          <p:cNvPr id="26" name="Group 25"/>
          <p:cNvGrpSpPr/>
          <p:nvPr>
            <p:custDataLst>
              <p:tags r:id="rId1"/>
            </p:custDataLst>
          </p:nvPr>
        </p:nvGrpSpPr>
        <p:grpSpPr>
          <a:xfrm>
            <a:off x="21590" y="3752215"/>
            <a:ext cx="4549775" cy="681990"/>
            <a:chOff x="8928" y="2189"/>
            <a:chExt cx="4968" cy="1410"/>
          </a:xfrm>
        </p:grpSpPr>
        <p:sp>
          <p:nvSpPr>
            <p:cNvPr id="10" name="Shape 8"/>
            <p:cNvSpPr/>
            <p:nvPr>
              <p:custDataLst>
                <p:tags r:id="rId2"/>
              </p:custDataLst>
            </p:nvPr>
          </p:nvSpPr>
          <p:spPr>
            <a:xfrm>
              <a:off x="8928" y="2189"/>
              <a:ext cx="4968" cy="1411"/>
            </a:xfrm>
            <a:prstGeom prst="rect">
              <a:avLst/>
            </a:prstGeom>
            <a:solidFill>
              <a:srgbClr val="FFFFFF"/>
            </a:solidFill>
            <a:ln w="12700">
              <a:solidFill>
                <a:srgbClr val="E0E8EE"/>
              </a:solidFill>
              <a:prstDash val="solid"/>
            </a:ln>
          </p:spPr>
        </p:sp>
        <p:sp>
          <p:nvSpPr>
            <p:cNvPr id="11" name="Shape 9"/>
            <p:cNvSpPr/>
            <p:nvPr>
              <p:custDataLst>
                <p:tags r:id="rId3"/>
              </p:custDataLst>
            </p:nvPr>
          </p:nvSpPr>
          <p:spPr>
            <a:xfrm>
              <a:off x="8928" y="2189"/>
              <a:ext cx="101" cy="1411"/>
            </a:xfrm>
            <a:prstGeom prst="rect">
              <a:avLst/>
            </a:prstGeom>
            <a:solidFill>
              <a:srgbClr val="58B9DA"/>
            </a:solidFill>
            <a:ln w="12700">
              <a:solidFill>
                <a:srgbClr val="58B9DA"/>
              </a:solidFill>
              <a:prstDash val="solid"/>
            </a:ln>
          </p:spPr>
        </p:sp>
        <p:sp>
          <p:nvSpPr>
            <p:cNvPr id="12" name="Text 10"/>
            <p:cNvSpPr/>
            <p:nvPr>
              <p:custDataLst>
                <p:tags r:id="rId4"/>
              </p:custDataLst>
            </p:nvPr>
          </p:nvSpPr>
          <p:spPr>
            <a:xfrm>
              <a:off x="9216" y="2275"/>
              <a:ext cx="4464" cy="374"/>
            </a:xfrm>
            <a:prstGeom prst="rect">
              <a:avLst/>
            </a:prstGeom>
            <a:noFill/>
          </p:spPr>
          <p:txBody>
            <a:bodyPr wrap="square" lIns="0" tIns="0" rIns="0" bIns="0" rtlCol="0" anchor="ctr"/>
            <a:lstStyle/>
            <a:p>
              <a:pPr marL="0" indent="0">
                <a:buNone/>
              </a:pPr>
              <a:r>
                <a:rPr lang="en-US" sz="950" b="1" dirty="0">
                  <a:solidFill>
                    <a:srgbClr val="58B9DA"/>
                  </a:solidFill>
                </a:rPr>
                <a:t>L2 (Ridge)</a:t>
              </a:r>
              <a:endParaRPr lang="en-US" sz="950" dirty="0"/>
            </a:p>
          </p:txBody>
        </p:sp>
        <p:sp>
          <p:nvSpPr>
            <p:cNvPr id="13" name="Text 11"/>
            <p:cNvSpPr/>
            <p:nvPr>
              <p:custDataLst>
                <p:tags r:id="rId5"/>
              </p:custDataLst>
            </p:nvPr>
          </p:nvSpPr>
          <p:spPr>
            <a:xfrm>
              <a:off x="9216" y="2650"/>
              <a:ext cx="4464" cy="864"/>
            </a:xfrm>
            <a:prstGeom prst="rect">
              <a:avLst/>
            </a:prstGeom>
            <a:noFill/>
          </p:spPr>
          <p:txBody>
            <a:bodyPr wrap="square" lIns="0" tIns="0" rIns="0" bIns="0" rtlCol="0" anchor="ctr"/>
            <a:lstStyle/>
            <a:p>
              <a:pPr marL="0" indent="0">
                <a:buNone/>
              </a:pPr>
              <a:r>
                <a:rPr lang="en-US" sz="820" dirty="0">
                  <a:solidFill>
                    <a:srgbClr val="1E2A32"/>
                  </a:solidFill>
                </a:rPr>
                <a:t>Sparsity = 0% at ALL C values. It shrinks every coefficient proportionally but never eliminates any. This is why L2 is stable but not interpretable — all 178 features contribute something to every prediction.</a:t>
              </a:r>
              <a:endParaRPr lang="en-US" sz="820" dirty="0"/>
            </a:p>
          </p:txBody>
        </p:sp>
      </p:grpSp>
      <p:grpSp>
        <p:nvGrpSpPr>
          <p:cNvPr id="27" name="Group 26"/>
          <p:cNvGrpSpPr/>
          <p:nvPr>
            <p:custDataLst>
              <p:tags r:id="rId6"/>
            </p:custDataLst>
          </p:nvPr>
        </p:nvGrpSpPr>
        <p:grpSpPr>
          <a:xfrm>
            <a:off x="22860" y="4409440"/>
            <a:ext cx="4548505" cy="678815"/>
            <a:chOff x="8928" y="3744"/>
            <a:chExt cx="4968" cy="1410"/>
          </a:xfrm>
        </p:grpSpPr>
        <p:sp>
          <p:nvSpPr>
            <p:cNvPr id="14" name="Shape 12"/>
            <p:cNvSpPr/>
            <p:nvPr>
              <p:custDataLst>
                <p:tags r:id="rId7"/>
              </p:custDataLst>
            </p:nvPr>
          </p:nvSpPr>
          <p:spPr>
            <a:xfrm>
              <a:off x="8928" y="3744"/>
              <a:ext cx="4968" cy="1411"/>
            </a:xfrm>
            <a:prstGeom prst="rect">
              <a:avLst/>
            </a:prstGeom>
            <a:solidFill>
              <a:srgbClr val="FFFFFF"/>
            </a:solidFill>
            <a:ln w="12700">
              <a:solidFill>
                <a:srgbClr val="E0E8EE"/>
              </a:solidFill>
              <a:prstDash val="solid"/>
            </a:ln>
          </p:spPr>
        </p:sp>
        <p:sp>
          <p:nvSpPr>
            <p:cNvPr id="15" name="Shape 13"/>
            <p:cNvSpPr/>
            <p:nvPr>
              <p:custDataLst>
                <p:tags r:id="rId8"/>
              </p:custDataLst>
            </p:nvPr>
          </p:nvSpPr>
          <p:spPr>
            <a:xfrm>
              <a:off x="8928" y="3744"/>
              <a:ext cx="101" cy="1411"/>
            </a:xfrm>
            <a:prstGeom prst="rect">
              <a:avLst/>
            </a:prstGeom>
            <a:solidFill>
              <a:srgbClr val="C0392B"/>
            </a:solidFill>
            <a:ln w="12700">
              <a:solidFill>
                <a:srgbClr val="C0392B"/>
              </a:solidFill>
              <a:prstDash val="solid"/>
            </a:ln>
          </p:spPr>
        </p:sp>
        <p:sp>
          <p:nvSpPr>
            <p:cNvPr id="16" name="Text 14"/>
            <p:cNvSpPr/>
            <p:nvPr>
              <p:custDataLst>
                <p:tags r:id="rId9"/>
              </p:custDataLst>
            </p:nvPr>
          </p:nvSpPr>
          <p:spPr>
            <a:xfrm>
              <a:off x="9216" y="3830"/>
              <a:ext cx="4464" cy="374"/>
            </a:xfrm>
            <a:prstGeom prst="rect">
              <a:avLst/>
            </a:prstGeom>
            <a:noFill/>
          </p:spPr>
          <p:txBody>
            <a:bodyPr wrap="square" lIns="0" tIns="0" rIns="0" bIns="0" rtlCol="0" anchor="ctr"/>
            <a:lstStyle/>
            <a:p>
              <a:pPr marL="0" indent="0">
                <a:buNone/>
              </a:pPr>
              <a:r>
                <a:rPr lang="en-US" sz="950" b="1" dirty="0">
                  <a:solidFill>
                    <a:srgbClr val="C0392B"/>
                  </a:solidFill>
                </a:rPr>
                <a:t>L1 (Lasso)</a:t>
              </a:r>
              <a:endParaRPr lang="en-US" sz="950" dirty="0"/>
            </a:p>
          </p:txBody>
        </p:sp>
        <p:sp>
          <p:nvSpPr>
            <p:cNvPr id="17" name="Text 15"/>
            <p:cNvSpPr/>
            <p:nvPr>
              <p:custDataLst>
                <p:tags r:id="rId10"/>
              </p:custDataLst>
            </p:nvPr>
          </p:nvSpPr>
          <p:spPr>
            <a:xfrm>
              <a:off x="9216" y="4205"/>
              <a:ext cx="4464" cy="864"/>
            </a:xfrm>
            <a:prstGeom prst="rect">
              <a:avLst/>
            </a:prstGeom>
            <a:noFill/>
          </p:spPr>
          <p:txBody>
            <a:bodyPr wrap="square" lIns="0" tIns="0" rIns="0" bIns="0" rtlCol="0" anchor="ctr"/>
            <a:lstStyle/>
            <a:p>
              <a:pPr marL="0" indent="0">
                <a:buNone/>
              </a:pPr>
              <a:r>
                <a:rPr lang="en-US" sz="820" dirty="0">
                  <a:solidFill>
                    <a:srgbClr val="1E2A32"/>
                  </a:solidFill>
                </a:rPr>
                <a:t>100% sparsity at C ≤ 0.01 — effectively a null model. As C increases, features are switched on one by one. This enables automatic feature selection but is unstable on df3 (high-dimensional).</a:t>
              </a:r>
              <a:endParaRPr lang="en-US" sz="820" dirty="0"/>
            </a:p>
          </p:txBody>
        </p:sp>
      </p:grpSp>
      <p:grpSp>
        <p:nvGrpSpPr>
          <p:cNvPr id="28" name="Group 27"/>
          <p:cNvGrpSpPr/>
          <p:nvPr>
            <p:custDataLst>
              <p:tags r:id="rId11"/>
            </p:custDataLst>
          </p:nvPr>
        </p:nvGrpSpPr>
        <p:grpSpPr>
          <a:xfrm>
            <a:off x="4578350" y="4393565"/>
            <a:ext cx="4567555" cy="694690"/>
            <a:chOff x="8928" y="5299"/>
            <a:chExt cx="4968" cy="1410"/>
          </a:xfrm>
        </p:grpSpPr>
        <p:sp>
          <p:nvSpPr>
            <p:cNvPr id="18" name="Shape 16"/>
            <p:cNvSpPr/>
            <p:nvPr>
              <p:custDataLst>
                <p:tags r:id="rId12"/>
              </p:custDataLst>
            </p:nvPr>
          </p:nvSpPr>
          <p:spPr>
            <a:xfrm>
              <a:off x="8928" y="5299"/>
              <a:ext cx="4968" cy="1411"/>
            </a:xfrm>
            <a:prstGeom prst="rect">
              <a:avLst/>
            </a:prstGeom>
            <a:solidFill>
              <a:srgbClr val="FFFFFF"/>
            </a:solidFill>
            <a:ln w="12700">
              <a:solidFill>
                <a:srgbClr val="E0E8EE"/>
              </a:solidFill>
              <a:prstDash val="solid"/>
            </a:ln>
          </p:spPr>
        </p:sp>
        <p:sp>
          <p:nvSpPr>
            <p:cNvPr id="19" name="Shape 17"/>
            <p:cNvSpPr/>
            <p:nvPr>
              <p:custDataLst>
                <p:tags r:id="rId13"/>
              </p:custDataLst>
            </p:nvPr>
          </p:nvSpPr>
          <p:spPr>
            <a:xfrm>
              <a:off x="8928" y="5299"/>
              <a:ext cx="101" cy="1411"/>
            </a:xfrm>
            <a:prstGeom prst="rect">
              <a:avLst/>
            </a:prstGeom>
            <a:solidFill>
              <a:srgbClr val="8DAC28"/>
            </a:solidFill>
            <a:ln w="12700">
              <a:solidFill>
                <a:srgbClr val="8DAC28"/>
              </a:solidFill>
              <a:prstDash val="solid"/>
            </a:ln>
          </p:spPr>
        </p:sp>
        <p:sp>
          <p:nvSpPr>
            <p:cNvPr id="20" name="Text 18"/>
            <p:cNvSpPr/>
            <p:nvPr>
              <p:custDataLst>
                <p:tags r:id="rId14"/>
              </p:custDataLst>
            </p:nvPr>
          </p:nvSpPr>
          <p:spPr>
            <a:xfrm>
              <a:off x="9216" y="5386"/>
              <a:ext cx="4464" cy="374"/>
            </a:xfrm>
            <a:prstGeom prst="rect">
              <a:avLst/>
            </a:prstGeom>
            <a:noFill/>
          </p:spPr>
          <p:txBody>
            <a:bodyPr wrap="square" lIns="0" tIns="0" rIns="0" bIns="0" rtlCol="0" anchor="ctr"/>
            <a:lstStyle/>
            <a:p>
              <a:pPr marL="0" indent="0">
                <a:buNone/>
              </a:pPr>
              <a:r>
                <a:rPr lang="en-US" sz="950" b="1" dirty="0">
                  <a:solidFill>
                    <a:srgbClr val="8DAC28"/>
                  </a:solidFill>
                </a:rPr>
                <a:t>Elastic Net</a:t>
              </a:r>
              <a:endParaRPr lang="en-US" sz="950" dirty="0"/>
            </a:p>
          </p:txBody>
        </p:sp>
        <p:sp>
          <p:nvSpPr>
            <p:cNvPr id="21" name="Text 19"/>
            <p:cNvSpPr/>
            <p:nvPr>
              <p:custDataLst>
                <p:tags r:id="rId15"/>
              </p:custDataLst>
            </p:nvPr>
          </p:nvSpPr>
          <p:spPr>
            <a:xfrm>
              <a:off x="9216" y="5760"/>
              <a:ext cx="4464" cy="864"/>
            </a:xfrm>
            <a:prstGeom prst="rect">
              <a:avLst/>
            </a:prstGeom>
            <a:noFill/>
          </p:spPr>
          <p:txBody>
            <a:bodyPr wrap="square" lIns="0" tIns="0" rIns="0" bIns="0" rtlCol="0" anchor="ctr"/>
            <a:lstStyle/>
            <a:p>
              <a:pPr marL="0" indent="0">
                <a:buNone/>
              </a:pPr>
              <a:r>
                <a:rPr lang="en-US" sz="820" dirty="0">
                  <a:solidFill>
                    <a:srgbClr val="1E2A32"/>
                  </a:solidFill>
                </a:rPr>
                <a:t>Mirrors L1 on df1 and df2. On df3, stays at 100% sparsity longer before dropping sharply. The combined penalty is more conservative — needs higher C to activate features than pure L1.</a:t>
              </a:r>
              <a:endParaRPr lang="en-US" sz="820" dirty="0"/>
            </a:p>
          </p:txBody>
        </p:sp>
      </p:grpSp>
      <p:grpSp>
        <p:nvGrpSpPr>
          <p:cNvPr id="29" name="Group 28"/>
          <p:cNvGrpSpPr/>
          <p:nvPr/>
        </p:nvGrpSpPr>
        <p:grpSpPr>
          <a:xfrm>
            <a:off x="4843145" y="3792220"/>
            <a:ext cx="4103370" cy="541655"/>
            <a:chOff x="8928" y="6797"/>
            <a:chExt cx="4968" cy="936"/>
          </a:xfrm>
        </p:grpSpPr>
        <p:sp>
          <p:nvSpPr>
            <p:cNvPr id="22" name="Shape 20"/>
            <p:cNvSpPr/>
            <p:nvPr/>
          </p:nvSpPr>
          <p:spPr>
            <a:xfrm>
              <a:off x="8928" y="6797"/>
              <a:ext cx="4968" cy="936"/>
            </a:xfrm>
            <a:prstGeom prst="rect">
              <a:avLst/>
            </a:prstGeom>
            <a:solidFill>
              <a:srgbClr val="FFF9E6"/>
            </a:solidFill>
            <a:ln w="12700">
              <a:solidFill>
                <a:srgbClr val="A9B8C3"/>
              </a:solidFill>
              <a:prstDash val="solid"/>
            </a:ln>
          </p:spPr>
        </p:sp>
        <p:sp>
          <p:nvSpPr>
            <p:cNvPr id="23" name="Text 21"/>
            <p:cNvSpPr/>
            <p:nvPr/>
          </p:nvSpPr>
          <p:spPr>
            <a:xfrm>
              <a:off x="9101" y="6883"/>
              <a:ext cx="4666" cy="778"/>
            </a:xfrm>
            <a:prstGeom prst="rect">
              <a:avLst/>
            </a:prstGeom>
            <a:noFill/>
          </p:spPr>
          <p:txBody>
            <a:bodyPr wrap="square" lIns="0" tIns="0" rIns="0" bIns="0" rtlCol="0" anchor="ctr"/>
            <a:lstStyle/>
            <a:p>
              <a:pPr marL="0" indent="0">
                <a:buNone/>
              </a:pPr>
              <a:r>
                <a:rPr lang="en-US" sz="850" i="1" dirty="0">
                  <a:solidFill>
                    <a:srgbClr val="1E2A32"/>
                  </a:solidFill>
                </a:rPr>
                <a:t>At C ≥ 10 all three methods converge toward low sparsity. The real differences appear between C=0.001 and C=1 — the regularisation-dominant zone.</a:t>
              </a:r>
              <a:endParaRPr lang="en-US" sz="850" dirty="0"/>
            </a:p>
          </p:txBody>
        </p:sp>
      </p:grpSp>
      <p:pic>
        <p:nvPicPr>
          <p:cNvPr id="30" name="Picture 29"/>
          <p:cNvPicPr>
            <a:picLocks noChangeAspect="1"/>
          </p:cNvPicPr>
          <p:nvPr/>
        </p:nvPicPr>
        <p:blipFill>
          <a:blip r:embed="rId16"/>
          <a:stretch>
            <a:fillRect/>
          </a:stretch>
        </p:blipFill>
        <p:spPr>
          <a:xfrm>
            <a:off x="410210" y="1280160"/>
            <a:ext cx="8331200" cy="24358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8B9DA"/>
          </a:solidFill>
          <a:ln w="12700">
            <a:solidFill>
              <a:srgbClr val="58B9DA"/>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  |  Regularisation — F1 Score &amp; Heatmap</a:t>
            </a:r>
            <a:endParaRPr lang="en-US" sz="1900" dirty="0"/>
          </a:p>
        </p:txBody>
      </p:sp>
      <p:sp>
        <p:nvSpPr>
          <p:cNvPr id="4" name="Shape 2"/>
          <p:cNvSpPr/>
          <p:nvPr/>
        </p:nvSpPr>
        <p:spPr>
          <a:xfrm>
            <a:off x="320040" y="749808"/>
            <a:ext cx="5029200" cy="402336"/>
          </a:xfrm>
          <a:prstGeom prst="rect">
            <a:avLst/>
          </a:prstGeom>
          <a:solidFill>
            <a:srgbClr val="EAF6FC"/>
          </a:solidFill>
          <a:ln w="6350">
            <a:solidFill>
              <a:srgbClr val="58B9DA"/>
            </a:solidFill>
            <a:prstDash val="solid"/>
          </a:ln>
        </p:spPr>
      </p:sp>
      <p:sp>
        <p:nvSpPr>
          <p:cNvPr id="5" name="Shape 3"/>
          <p:cNvSpPr/>
          <p:nvPr/>
        </p:nvSpPr>
        <p:spPr>
          <a:xfrm>
            <a:off x="320040" y="749808"/>
            <a:ext cx="64008" cy="402336"/>
          </a:xfrm>
          <a:prstGeom prst="rect">
            <a:avLst/>
          </a:prstGeom>
          <a:solidFill>
            <a:srgbClr val="58B9DA"/>
          </a:solidFill>
          <a:ln w="12700">
            <a:solidFill>
              <a:srgbClr val="58B9DA"/>
            </a:solidFill>
            <a:prstDash val="solid"/>
          </a:ln>
        </p:spPr>
      </p:sp>
      <p:sp>
        <p:nvSpPr>
          <p:cNvPr id="6" name="Text 4"/>
          <p:cNvSpPr/>
          <p:nvPr/>
        </p:nvSpPr>
        <p:spPr>
          <a:xfrm>
            <a:off x="457200" y="786384"/>
            <a:ext cx="4828032" cy="329184"/>
          </a:xfrm>
          <a:prstGeom prst="rect">
            <a:avLst/>
          </a:prstGeom>
          <a:noFill/>
        </p:spPr>
        <p:txBody>
          <a:bodyPr wrap="square" lIns="0" tIns="0" rIns="0" bIns="0" rtlCol="0" anchor="ctr"/>
          <a:lstStyle/>
          <a:p>
            <a:pPr marL="0" indent="0">
              <a:buNone/>
            </a:pPr>
            <a:r>
              <a:rPr lang="en-US" sz="800" dirty="0">
                <a:solidFill>
                  <a:srgbClr val="1E2A32"/>
                </a:solidFill>
              </a:rPr>
              <a:t>F1 graph: X = C value (log scale), Y = F1 score. Each line is a regularisation type. Rising lines mean the model improves as regularisation loosens. Flat lines mean regularisation type doesn't matter at that C.</a:t>
            </a:r>
            <a:endParaRPr lang="en-US" sz="800" dirty="0"/>
          </a:p>
        </p:txBody>
      </p:sp>
      <p:sp>
        <p:nvSpPr>
          <p:cNvPr id="9" name="Shape 7"/>
          <p:cNvSpPr/>
          <p:nvPr/>
        </p:nvSpPr>
        <p:spPr>
          <a:xfrm>
            <a:off x="5486400" y="749808"/>
            <a:ext cx="3337560" cy="402336"/>
          </a:xfrm>
          <a:prstGeom prst="rect">
            <a:avLst/>
          </a:prstGeom>
          <a:solidFill>
            <a:srgbClr val="F2F6E8"/>
          </a:solidFill>
          <a:ln w="6350">
            <a:solidFill>
              <a:srgbClr val="8DAC28"/>
            </a:solidFill>
            <a:prstDash val="solid"/>
          </a:ln>
        </p:spPr>
      </p:sp>
      <p:sp>
        <p:nvSpPr>
          <p:cNvPr id="10" name="Shape 8"/>
          <p:cNvSpPr/>
          <p:nvPr/>
        </p:nvSpPr>
        <p:spPr>
          <a:xfrm>
            <a:off x="5486400" y="749808"/>
            <a:ext cx="64008" cy="402336"/>
          </a:xfrm>
          <a:prstGeom prst="rect">
            <a:avLst/>
          </a:prstGeom>
          <a:solidFill>
            <a:srgbClr val="8DAC28"/>
          </a:solidFill>
          <a:ln w="12700">
            <a:solidFill>
              <a:srgbClr val="8DAC28"/>
            </a:solidFill>
            <a:prstDash val="solid"/>
          </a:ln>
        </p:spPr>
      </p:sp>
      <p:sp>
        <p:nvSpPr>
          <p:cNvPr id="11" name="Text 9"/>
          <p:cNvSpPr/>
          <p:nvPr/>
        </p:nvSpPr>
        <p:spPr>
          <a:xfrm>
            <a:off x="5623560" y="786384"/>
            <a:ext cx="3127248" cy="329184"/>
          </a:xfrm>
          <a:prstGeom prst="rect">
            <a:avLst/>
          </a:prstGeom>
          <a:noFill/>
        </p:spPr>
        <p:txBody>
          <a:bodyPr wrap="square" lIns="0" tIns="0" rIns="0" bIns="0" rtlCol="0" anchor="ctr"/>
          <a:lstStyle/>
          <a:p>
            <a:pPr marL="0" indent="0">
              <a:buNone/>
            </a:pPr>
            <a:r>
              <a:rPr lang="en-US" sz="800" dirty="0">
                <a:solidFill>
                  <a:srgbClr val="1E2A32"/>
                </a:solidFill>
              </a:rPr>
              <a:t>Heatmap: rows = penalty-C combinations, columns = datasets. Green = high F1, red = low. A fully green column means that dataset is easy for any setting; a red row means that penalty-C combo fails everywhere.</a:t>
            </a:r>
            <a:endParaRPr lang="en-US" sz="800" dirty="0"/>
          </a:p>
        </p:txBody>
      </p:sp>
      <p:sp>
        <p:nvSpPr>
          <p:cNvPr id="14" name="Text 12"/>
          <p:cNvSpPr/>
          <p:nvPr/>
        </p:nvSpPr>
        <p:spPr>
          <a:xfrm>
            <a:off x="320040" y="3493008"/>
            <a:ext cx="5029200" cy="256032"/>
          </a:xfrm>
          <a:prstGeom prst="rect">
            <a:avLst/>
          </a:prstGeom>
          <a:noFill/>
        </p:spPr>
        <p:txBody>
          <a:bodyPr wrap="square" lIns="0" tIns="0" rIns="0" bIns="0" rtlCol="0" anchor="ctr"/>
          <a:lstStyle/>
          <a:p>
            <a:pPr marL="0" indent="0">
              <a:buNone/>
            </a:pPr>
            <a:r>
              <a:rPr lang="en-US" sz="950" b="1" dirty="0">
                <a:solidFill>
                  <a:srgbClr val="1E2A32"/>
                </a:solidFill>
              </a:rPr>
              <a:t>Best configuration per penalty (Validation F1)</a:t>
            </a:r>
            <a:endParaRPr lang="en-US" sz="950" dirty="0"/>
          </a:p>
        </p:txBody>
      </p:sp>
      <p:graphicFrame>
        <p:nvGraphicFramePr>
          <p:cNvPr id="15" name="Table 0"/>
          <p:cNvGraphicFramePr>
            <a:graphicFrameLocks noGrp="1"/>
          </p:cNvGraphicFramePr>
          <p:nvPr/>
        </p:nvGraphicFramePr>
        <p:xfrm>
          <a:off x="320040" y="3785616"/>
          <a:ext cx="5029200" cy="1261872"/>
        </p:xfrm>
        <a:graphic>
          <a:graphicData uri="http://schemas.openxmlformats.org/drawingml/2006/table">
            <a:tbl>
              <a:tblPr/>
              <a:tblGrid>
                <a:gridCol w="1257300"/>
                <a:gridCol w="1257300"/>
                <a:gridCol w="1257300"/>
                <a:gridCol w="1257300"/>
              </a:tblGrid>
              <a:tr h="292608">
                <a:tc>
                  <a:txBody>
                    <a:bodyPr/>
                    <a:lstStyle/>
                    <a:p>
                      <a:pPr marL="0" indent="0" algn="ctr">
                        <a:buNone/>
                      </a:pPr>
                      <a:r>
                        <a:rPr lang="en-US" sz="850" b="1" dirty="0">
                          <a:solidFill>
                            <a:srgbClr val="FFFFFF"/>
                          </a:solidFill>
                        </a:rPr>
                        <a:t>Dataset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L1</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L2</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c>
                  <a:txBody>
                    <a:bodyPr/>
                    <a:lstStyle/>
                    <a:p>
                      <a:pPr marL="0" indent="0" algn="ctr">
                        <a:buNone/>
                      </a:pPr>
                      <a:r>
                        <a:rPr lang="en-US" sz="850" b="1" dirty="0">
                          <a:solidFill>
                            <a:srgbClr val="FFFFFF"/>
                          </a:solidFill>
                        </a:rPr>
                        <a:t>ElasticNet</a:t>
                      </a:r>
                      <a:endParaRPr lang="en-US" sz="85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1E2A32"/>
                    </a:solidFill>
                  </a:tcPr>
                </a:tc>
              </a:tr>
              <a:tr h="237744">
                <a:tc>
                  <a:txBody>
                    <a:bodyPr/>
                    <a:lstStyle/>
                    <a:p>
                      <a:pPr marL="0" indent="0" algn="ctr">
                        <a:buNone/>
                      </a:pPr>
                      <a:r>
                        <a:rPr lang="en-US" sz="900" b="1" dirty="0">
                          <a:solidFill>
                            <a:srgbClr val="1E2A32"/>
                          </a:solidFill>
                        </a:rPr>
                        <a:t>df1</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8B9DA"/>
                          </a:solidFill>
                        </a:rPr>
                        <a:t>0.120</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0.089</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8B9DA"/>
                          </a:solidFill>
                        </a:rPr>
                        <a:t>0.120</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7744">
                <a:tc>
                  <a:txBody>
                    <a:bodyPr/>
                    <a:lstStyle/>
                    <a:p>
                      <a:pPr marL="0" indent="0" algn="ctr">
                        <a:buNone/>
                      </a:pPr>
                      <a:r>
                        <a:rPr lang="en-US" sz="900" b="1" dirty="0">
                          <a:solidFill>
                            <a:srgbClr val="1E2A32"/>
                          </a:solidFill>
                        </a:rPr>
                        <a:t>df2</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E2A32"/>
                          </a:solidFill>
                        </a:rPr>
                        <a:t>0.885</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8DAC28"/>
                          </a:solidFill>
                        </a:rPr>
                        <a:t>0.886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8DAC28"/>
                          </a:solidFill>
                        </a:rPr>
                        <a:t>0.886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r h="237744">
                <a:tc>
                  <a:txBody>
                    <a:bodyPr/>
                    <a:lstStyle/>
                    <a:p>
                      <a:pPr marL="0" indent="0" algn="ctr">
                        <a:buNone/>
                      </a:pPr>
                      <a:r>
                        <a:rPr lang="en-US" sz="900" b="1" dirty="0">
                          <a:solidFill>
                            <a:srgbClr val="1E2A32"/>
                          </a:solidFill>
                        </a:rPr>
                        <a:t>df3</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0.444</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8DAC28"/>
                          </a:solidFill>
                        </a:rPr>
                        <a:t>0.452</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A32"/>
                          </a:solidFill>
                        </a:rPr>
                        <a:t>0.448</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FFFFF"/>
                    </a:solidFill>
                  </a:tcPr>
                </a:tc>
              </a:tr>
              <a:tr h="237744">
                <a:tc>
                  <a:txBody>
                    <a:bodyPr/>
                    <a:lstStyle/>
                    <a:p>
                      <a:pPr marL="0" indent="0" algn="ctr">
                        <a:buNone/>
                      </a:pPr>
                      <a:r>
                        <a:rPr lang="en-US" sz="900" b="1" dirty="0">
                          <a:solidFill>
                            <a:srgbClr val="1E2A32"/>
                          </a:solidFill>
                        </a:rPr>
                        <a:t>Mean F1</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1E2A32"/>
                          </a:solidFill>
                        </a:rPr>
                        <a:t>0.456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8DAC28"/>
                          </a:solidFill>
                        </a:rPr>
                        <a:t>0.463</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8DAC28"/>
                          </a:solidFill>
                        </a:rPr>
                        <a:t>0.456</a:t>
                      </a:r>
                      <a:endParaRPr lang="en-US" sz="900" dirty="0"/>
                    </a:p>
                  </a:txBody>
                  <a:tcPr anchor="ctr">
                    <a:lnL w="6350" cap="flat" cmpd="sng" algn="ctr">
                      <a:solidFill>
                        <a:srgbClr val="D0DCE6"/>
                      </a:solidFill>
                      <a:prstDash val="solid"/>
                      <a:round/>
                      <a:headEnd type="none" w="med" len="med"/>
                      <a:tailEnd type="none" w="med" len="med"/>
                    </a:lnL>
                    <a:lnR w="6350" cap="flat" cmpd="sng" algn="ctr">
                      <a:solidFill>
                        <a:srgbClr val="D0DCE6"/>
                      </a:solidFill>
                      <a:prstDash val="solid"/>
                      <a:round/>
                      <a:headEnd type="none" w="med" len="med"/>
                      <a:tailEnd type="none" w="med" len="med"/>
                    </a:lnR>
                    <a:lnT w="6350" cap="flat" cmpd="sng" algn="ctr">
                      <a:solidFill>
                        <a:srgbClr val="D0DCE6"/>
                      </a:solidFill>
                      <a:prstDash val="solid"/>
                      <a:round/>
                      <a:headEnd type="none" w="med" len="med"/>
                      <a:tailEnd type="none" w="med" len="med"/>
                    </a:lnT>
                    <a:lnB w="6350" cap="flat" cmpd="sng" algn="ctr">
                      <a:solidFill>
                        <a:srgbClr val="D0DCE6"/>
                      </a:solidFill>
                      <a:prstDash val="solid"/>
                      <a:round/>
                      <a:headEnd type="none" w="med" len="med"/>
                      <a:tailEnd type="none" w="med" len="med"/>
                    </a:lnB>
                    <a:solidFill>
                      <a:srgbClr val="F4F8FB"/>
                    </a:solidFill>
                  </a:tcPr>
                </a:tc>
              </a:tr>
            </a:tbl>
          </a:graphicData>
        </a:graphic>
      </p:graphicFrame>
      <p:sp>
        <p:nvSpPr>
          <p:cNvPr id="16" name="Shape 13"/>
          <p:cNvSpPr/>
          <p:nvPr/>
        </p:nvSpPr>
        <p:spPr>
          <a:xfrm>
            <a:off x="320040" y="4974336"/>
            <a:ext cx="5029200" cy="109728"/>
          </a:xfrm>
          <a:prstGeom prst="rect">
            <a:avLst/>
          </a:prstGeom>
          <a:solidFill>
            <a:srgbClr val="8DAC28"/>
          </a:solidFill>
          <a:ln w="12700">
            <a:solidFill>
              <a:srgbClr val="8DAC28"/>
            </a:solidFill>
            <a:prstDash val="solid"/>
          </a:ln>
        </p:spPr>
      </p:sp>
      <p:sp>
        <p:nvSpPr>
          <p:cNvPr id="17" name="Text 14"/>
          <p:cNvSpPr/>
          <p:nvPr/>
        </p:nvSpPr>
        <p:spPr>
          <a:xfrm>
            <a:off x="320040" y="4974336"/>
            <a:ext cx="5029200" cy="128016"/>
          </a:xfrm>
          <a:prstGeom prst="rect">
            <a:avLst/>
          </a:prstGeom>
          <a:noFill/>
        </p:spPr>
        <p:txBody>
          <a:bodyPr wrap="square" lIns="0" tIns="0" rIns="0" bIns="0" rtlCol="0" anchor="ctr"/>
          <a:lstStyle/>
          <a:p>
            <a:pPr marL="0" indent="0" algn="ctr">
              <a:buNone/>
            </a:pPr>
            <a:r>
              <a:rPr lang="en-US" sz="750" b="1" dirty="0">
                <a:solidFill>
                  <a:srgbClr val="FFFFFF"/>
                </a:solidFill>
              </a:rPr>
              <a:t>L2 wins on mean F1 (0.463) — its dense, stable shrinkage outperforms sparse methods across heterogeneous datasets.</a:t>
            </a:r>
            <a:endParaRPr lang="en-US" sz="750" dirty="0"/>
          </a:p>
        </p:txBody>
      </p:sp>
      <p:pic>
        <p:nvPicPr>
          <p:cNvPr id="18" name="Picture 17"/>
          <p:cNvPicPr>
            <a:picLocks noChangeAspect="1"/>
          </p:cNvPicPr>
          <p:nvPr/>
        </p:nvPicPr>
        <p:blipFill>
          <a:blip r:embed="rId1"/>
          <a:srcRect l="555" t="11269" r="67036" b="6389"/>
          <a:stretch>
            <a:fillRect/>
          </a:stretch>
        </p:blipFill>
        <p:spPr>
          <a:xfrm>
            <a:off x="120015" y="1648460"/>
            <a:ext cx="2132965" cy="1348740"/>
          </a:xfrm>
          <a:prstGeom prst="rect">
            <a:avLst/>
          </a:prstGeom>
        </p:spPr>
      </p:pic>
      <p:pic>
        <p:nvPicPr>
          <p:cNvPr id="19" name="Picture 18"/>
          <p:cNvPicPr>
            <a:picLocks noChangeAspect="1"/>
          </p:cNvPicPr>
          <p:nvPr/>
        </p:nvPicPr>
        <p:blipFill>
          <a:blip r:embed="rId1"/>
          <a:srcRect l="34971" t="19022" r="33209" b="845"/>
          <a:stretch>
            <a:fillRect/>
          </a:stretch>
        </p:blipFill>
        <p:spPr>
          <a:xfrm>
            <a:off x="2822575" y="1151890"/>
            <a:ext cx="2094230" cy="1312545"/>
          </a:xfrm>
          <a:prstGeom prst="rect">
            <a:avLst/>
          </a:prstGeom>
        </p:spPr>
      </p:pic>
      <p:pic>
        <p:nvPicPr>
          <p:cNvPr id="20" name="Picture 19"/>
          <p:cNvPicPr>
            <a:picLocks noChangeAspect="1"/>
          </p:cNvPicPr>
          <p:nvPr/>
        </p:nvPicPr>
        <p:blipFill>
          <a:blip r:embed="rId1"/>
          <a:srcRect l="69396" t="15804" r="-1216" b="4063"/>
          <a:stretch>
            <a:fillRect/>
          </a:stretch>
        </p:blipFill>
        <p:spPr>
          <a:xfrm>
            <a:off x="2822575" y="2407285"/>
            <a:ext cx="2094230" cy="1312545"/>
          </a:xfrm>
          <a:prstGeom prst="rect">
            <a:avLst/>
          </a:prstGeom>
        </p:spPr>
      </p:pic>
      <p:sp>
        <p:nvSpPr>
          <p:cNvPr id="21" name="Text Box 20"/>
          <p:cNvSpPr txBox="1"/>
          <p:nvPr/>
        </p:nvSpPr>
        <p:spPr>
          <a:xfrm>
            <a:off x="2449830" y="1678305"/>
            <a:ext cx="3048000" cy="275590"/>
          </a:xfrm>
          <a:prstGeom prst="rect">
            <a:avLst/>
          </a:prstGeom>
          <a:noFill/>
        </p:spPr>
        <p:txBody>
          <a:bodyPr wrap="square" rtlCol="0">
            <a:spAutoFit/>
          </a:bodyPr>
          <a:p>
            <a:r>
              <a:rPr lang="en-US" altLang="en-GB" sz="1200"/>
              <a:t>df2</a:t>
            </a:r>
            <a:endParaRPr lang="en-US" altLang="en-GB" sz="1200"/>
          </a:p>
        </p:txBody>
      </p:sp>
      <p:sp>
        <p:nvSpPr>
          <p:cNvPr id="22" name="Text Box 21"/>
          <p:cNvSpPr txBox="1"/>
          <p:nvPr/>
        </p:nvSpPr>
        <p:spPr>
          <a:xfrm>
            <a:off x="2449830" y="2925445"/>
            <a:ext cx="3048000" cy="275590"/>
          </a:xfrm>
          <a:prstGeom prst="rect">
            <a:avLst/>
          </a:prstGeom>
          <a:noFill/>
        </p:spPr>
        <p:txBody>
          <a:bodyPr wrap="square" rtlCol="0">
            <a:spAutoFit/>
          </a:bodyPr>
          <a:p>
            <a:r>
              <a:rPr lang="en-US" altLang="en-GB" sz="1200"/>
              <a:t>df3</a:t>
            </a:r>
            <a:endParaRPr lang="en-US" altLang="en-GB" sz="1200"/>
          </a:p>
        </p:txBody>
      </p:sp>
      <p:pic>
        <p:nvPicPr>
          <p:cNvPr id="23" name="Picture 22"/>
          <p:cNvPicPr>
            <a:picLocks noChangeAspect="1"/>
          </p:cNvPicPr>
          <p:nvPr/>
        </p:nvPicPr>
        <p:blipFill>
          <a:blip r:embed="rId2"/>
          <a:stretch>
            <a:fillRect/>
          </a:stretch>
        </p:blipFill>
        <p:spPr>
          <a:xfrm>
            <a:off x="5486400" y="1243330"/>
            <a:ext cx="3337560" cy="3553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36" name="Rectangles 35"/>
          <p:cNvSpPr/>
          <p:nvPr/>
        </p:nvSpPr>
        <p:spPr>
          <a:xfrm>
            <a:off x="756920" y="1161415"/>
            <a:ext cx="7309485" cy="2499995"/>
          </a:xfrm>
          <a:prstGeom prst="rect">
            <a:avLst/>
          </a:prstGeom>
          <a:solidFill>
            <a:srgbClr val="1E2A3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2" name="Shape 0"/>
          <p:cNvSpPr/>
          <p:nvPr/>
        </p:nvSpPr>
        <p:spPr>
          <a:xfrm>
            <a:off x="0" y="0"/>
            <a:ext cx="9144000" cy="658368"/>
          </a:xfrm>
          <a:prstGeom prst="rect">
            <a:avLst/>
          </a:prstGeom>
          <a:solidFill>
            <a:srgbClr val="1E2A32"/>
          </a:solidFill>
          <a:ln w="12700">
            <a:solidFill>
              <a:srgbClr val="1E2A32"/>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  |  Class Imbalance Handling</a:t>
            </a:r>
            <a:endParaRPr lang="en-US" sz="1900" dirty="0"/>
          </a:p>
        </p:txBody>
      </p:sp>
      <p:sp>
        <p:nvSpPr>
          <p:cNvPr id="4" name="Shape 2"/>
          <p:cNvSpPr/>
          <p:nvPr/>
        </p:nvSpPr>
        <p:spPr>
          <a:xfrm>
            <a:off x="320040" y="749808"/>
            <a:ext cx="8503920" cy="402336"/>
          </a:xfrm>
          <a:prstGeom prst="rect">
            <a:avLst/>
          </a:prstGeom>
          <a:solidFill>
            <a:srgbClr val="EAF6FC"/>
          </a:solidFill>
          <a:ln w="9525">
            <a:solidFill>
              <a:srgbClr val="58B9DA"/>
            </a:solidFill>
            <a:prstDash val="solid"/>
          </a:ln>
        </p:spPr>
      </p:sp>
      <p:sp>
        <p:nvSpPr>
          <p:cNvPr id="5" name="Shape 3"/>
          <p:cNvSpPr/>
          <p:nvPr/>
        </p:nvSpPr>
        <p:spPr>
          <a:xfrm>
            <a:off x="320040" y="749808"/>
            <a:ext cx="64008" cy="402336"/>
          </a:xfrm>
          <a:prstGeom prst="rect">
            <a:avLst/>
          </a:prstGeom>
          <a:solidFill>
            <a:srgbClr val="58B9DA"/>
          </a:solidFill>
          <a:ln w="12700">
            <a:solidFill>
              <a:srgbClr val="58B9DA"/>
            </a:solidFill>
            <a:prstDash val="solid"/>
          </a:ln>
        </p:spPr>
      </p:sp>
      <p:sp>
        <p:nvSpPr>
          <p:cNvPr id="6" name="Text 4"/>
          <p:cNvSpPr/>
          <p:nvPr/>
        </p:nvSpPr>
        <p:spPr>
          <a:xfrm>
            <a:off x="384175" y="710819"/>
            <a:ext cx="1828800" cy="201168"/>
          </a:xfrm>
          <a:prstGeom prst="rect">
            <a:avLst/>
          </a:prstGeom>
          <a:noFill/>
        </p:spPr>
        <p:txBody>
          <a:bodyPr wrap="square" lIns="0" tIns="0" rIns="0" bIns="0" rtlCol="0" anchor="ctr"/>
          <a:lstStyle/>
          <a:p>
            <a:pPr marL="0" indent="0">
              <a:buNone/>
            </a:pPr>
            <a:r>
              <a:rPr lang="en-US" sz="900" b="1" dirty="0">
                <a:solidFill>
                  <a:srgbClr val="58B9DA"/>
                </a:solidFill>
              </a:rPr>
              <a:t>How to read this graph: </a:t>
            </a:r>
            <a:endParaRPr lang="en-US" sz="900" dirty="0"/>
          </a:p>
        </p:txBody>
      </p:sp>
      <p:sp>
        <p:nvSpPr>
          <p:cNvPr id="7" name="Text 5"/>
          <p:cNvSpPr/>
          <p:nvPr/>
        </p:nvSpPr>
        <p:spPr>
          <a:xfrm>
            <a:off x="548640" y="832739"/>
            <a:ext cx="8275320" cy="329184"/>
          </a:xfrm>
          <a:prstGeom prst="rect">
            <a:avLst/>
          </a:prstGeom>
          <a:noFill/>
        </p:spPr>
        <p:txBody>
          <a:bodyPr wrap="square" lIns="0" tIns="0" rIns="0" bIns="0" rtlCol="0" anchor="ctr"/>
          <a:lstStyle/>
          <a:p>
            <a:pPr marL="0" indent="0">
              <a:buNone/>
            </a:pPr>
            <a:r>
              <a:rPr lang="en-US" sz="820" dirty="0">
                <a:solidFill>
                  <a:srgbClr val="1E2A32"/>
                </a:solidFill>
              </a:rPr>
              <a:t>Each group of bars is one imbalance method. Blue bar = Precision (how often a seizure prediction is correct). Orange bar = Recall (how many actual seizures are caught). High recall but low precision means many false alarms; high precision but low recall means missed seizures. The goal is balance.</a:t>
            </a:r>
            <a:endParaRPr lang="en-US" sz="820" dirty="0"/>
          </a:p>
        </p:txBody>
      </p:sp>
      <p:grpSp>
        <p:nvGrpSpPr>
          <p:cNvPr id="34" name="Group 33"/>
          <p:cNvGrpSpPr/>
          <p:nvPr/>
        </p:nvGrpSpPr>
        <p:grpSpPr>
          <a:xfrm>
            <a:off x="0" y="3990340"/>
            <a:ext cx="9143365" cy="1153160"/>
            <a:chOff x="0" y="5566"/>
            <a:chExt cx="10236" cy="2534"/>
          </a:xfrm>
        </p:grpSpPr>
        <p:grpSp>
          <p:nvGrpSpPr>
            <p:cNvPr id="28" name="Group 27"/>
            <p:cNvGrpSpPr/>
            <p:nvPr/>
          </p:nvGrpSpPr>
          <p:grpSpPr>
            <a:xfrm>
              <a:off x="0" y="6833"/>
              <a:ext cx="5112" cy="1266"/>
              <a:chOff x="8784" y="2045"/>
              <a:chExt cx="5112" cy="1266"/>
            </a:xfrm>
          </p:grpSpPr>
          <p:sp>
            <p:nvSpPr>
              <p:cNvPr id="10" name="Shape 8"/>
              <p:cNvSpPr/>
              <p:nvPr/>
            </p:nvSpPr>
            <p:spPr>
              <a:xfrm>
                <a:off x="8784" y="2045"/>
                <a:ext cx="5112" cy="1267"/>
              </a:xfrm>
              <a:prstGeom prst="rect">
                <a:avLst/>
              </a:prstGeom>
              <a:solidFill>
                <a:srgbClr val="FFFFFF"/>
              </a:solidFill>
              <a:ln w="12700">
                <a:solidFill>
                  <a:srgbClr val="E0E8EE"/>
                </a:solidFill>
                <a:prstDash val="solid"/>
              </a:ln>
            </p:spPr>
          </p:sp>
          <p:sp>
            <p:nvSpPr>
              <p:cNvPr id="11" name="Shape 9"/>
              <p:cNvSpPr/>
              <p:nvPr/>
            </p:nvSpPr>
            <p:spPr>
              <a:xfrm>
                <a:off x="8784" y="2045"/>
                <a:ext cx="101" cy="1267"/>
              </a:xfrm>
              <a:prstGeom prst="rect">
                <a:avLst/>
              </a:prstGeom>
              <a:solidFill>
                <a:srgbClr val="C0392B"/>
              </a:solidFill>
              <a:ln w="12700">
                <a:solidFill>
                  <a:srgbClr val="C0392B"/>
                </a:solidFill>
                <a:prstDash val="solid"/>
              </a:ln>
            </p:spPr>
          </p:sp>
          <p:sp>
            <p:nvSpPr>
              <p:cNvPr id="12" name="Text 10"/>
              <p:cNvSpPr/>
              <p:nvPr/>
            </p:nvSpPr>
            <p:spPr>
              <a:xfrm>
                <a:off x="9072" y="2117"/>
                <a:ext cx="4608" cy="374"/>
              </a:xfrm>
              <a:prstGeom prst="rect">
                <a:avLst/>
              </a:prstGeom>
              <a:noFill/>
            </p:spPr>
            <p:txBody>
              <a:bodyPr wrap="square" lIns="0" tIns="0" rIns="0" bIns="0" rtlCol="0" anchor="ctr"/>
              <a:lstStyle/>
              <a:p>
                <a:pPr marL="0" indent="0">
                  <a:buNone/>
                </a:pPr>
                <a:r>
                  <a:rPr lang="en-US" sz="950" b="1" dirty="0">
                    <a:solidFill>
                      <a:srgbClr val="C0392B"/>
                    </a:solidFill>
                  </a:rPr>
                  <a:t>No Resampling</a:t>
                </a:r>
                <a:endParaRPr lang="en-US" sz="950" dirty="0"/>
              </a:p>
            </p:txBody>
          </p:sp>
          <p:sp>
            <p:nvSpPr>
              <p:cNvPr id="13" name="Text 11"/>
              <p:cNvSpPr/>
              <p:nvPr/>
            </p:nvSpPr>
            <p:spPr>
              <a:xfrm>
                <a:off x="9072" y="2477"/>
                <a:ext cx="4608" cy="749"/>
              </a:xfrm>
              <a:prstGeom prst="rect">
                <a:avLst/>
              </a:prstGeom>
              <a:noFill/>
            </p:spPr>
            <p:txBody>
              <a:bodyPr wrap="square" lIns="0" tIns="0" rIns="0" bIns="0" rtlCol="0" anchor="ctr"/>
              <a:lstStyle/>
              <a:p>
                <a:pPr marL="0" indent="0">
                  <a:buNone/>
                </a:pPr>
                <a:r>
                  <a:rPr lang="en-US" sz="800" dirty="0">
                    <a:solidFill>
                      <a:srgbClr val="1E2A32"/>
                    </a:solidFill>
                  </a:rPr>
                  <a:t>df1: Precision=1.00 but Recall=0.026. The model predicts 'no seizure' almost always — looks accurate, but misses 97% of actual seizures. Useless clinically.</a:t>
                </a:r>
                <a:endParaRPr lang="en-US" sz="800" dirty="0"/>
              </a:p>
            </p:txBody>
          </p:sp>
        </p:grpSp>
        <p:grpSp>
          <p:nvGrpSpPr>
            <p:cNvPr id="30" name="Group 29"/>
            <p:cNvGrpSpPr/>
            <p:nvPr/>
          </p:nvGrpSpPr>
          <p:grpSpPr>
            <a:xfrm>
              <a:off x="0" y="5566"/>
              <a:ext cx="5112" cy="1266"/>
              <a:chOff x="8784" y="3456"/>
              <a:chExt cx="5112" cy="1266"/>
            </a:xfrm>
          </p:grpSpPr>
          <p:sp>
            <p:nvSpPr>
              <p:cNvPr id="14" name="Shape 12"/>
              <p:cNvSpPr/>
              <p:nvPr/>
            </p:nvSpPr>
            <p:spPr>
              <a:xfrm>
                <a:off x="8784" y="3456"/>
                <a:ext cx="5112" cy="1267"/>
              </a:xfrm>
              <a:prstGeom prst="rect">
                <a:avLst/>
              </a:prstGeom>
              <a:solidFill>
                <a:srgbClr val="FFFFFF"/>
              </a:solidFill>
              <a:ln w="12700">
                <a:solidFill>
                  <a:srgbClr val="E0E8EE"/>
                </a:solidFill>
                <a:prstDash val="solid"/>
              </a:ln>
            </p:spPr>
          </p:sp>
          <p:sp>
            <p:nvSpPr>
              <p:cNvPr id="15" name="Shape 13"/>
              <p:cNvSpPr/>
              <p:nvPr/>
            </p:nvSpPr>
            <p:spPr>
              <a:xfrm>
                <a:off x="8784" y="3456"/>
                <a:ext cx="101" cy="1267"/>
              </a:xfrm>
              <a:prstGeom prst="rect">
                <a:avLst/>
              </a:prstGeom>
              <a:solidFill>
                <a:srgbClr val="58B9DA"/>
              </a:solidFill>
              <a:ln w="12700">
                <a:solidFill>
                  <a:srgbClr val="58B9DA"/>
                </a:solidFill>
                <a:prstDash val="solid"/>
              </a:ln>
            </p:spPr>
          </p:sp>
          <p:grpSp>
            <p:nvGrpSpPr>
              <p:cNvPr id="29" name="Group 28"/>
              <p:cNvGrpSpPr/>
              <p:nvPr/>
            </p:nvGrpSpPr>
            <p:grpSpPr>
              <a:xfrm>
                <a:off x="9072" y="3528"/>
                <a:ext cx="4608" cy="1108"/>
                <a:chOff x="9072" y="3528"/>
                <a:chExt cx="4608" cy="1108"/>
              </a:xfrm>
            </p:grpSpPr>
            <p:sp>
              <p:nvSpPr>
                <p:cNvPr id="16" name="Text 14"/>
                <p:cNvSpPr/>
                <p:nvPr/>
              </p:nvSpPr>
              <p:spPr>
                <a:xfrm>
                  <a:off x="9072" y="3528"/>
                  <a:ext cx="4608" cy="374"/>
                </a:xfrm>
                <a:prstGeom prst="rect">
                  <a:avLst/>
                </a:prstGeom>
                <a:noFill/>
              </p:spPr>
              <p:txBody>
                <a:bodyPr wrap="square" lIns="0" tIns="0" rIns="0" bIns="0" rtlCol="0" anchor="ctr"/>
                <a:lstStyle/>
                <a:p>
                  <a:pPr marL="0" indent="0">
                    <a:buNone/>
                  </a:pPr>
                  <a:r>
                    <a:rPr lang="en-US" sz="950" b="1" dirty="0">
                      <a:solidFill>
                        <a:srgbClr val="58B9DA"/>
                      </a:solidFill>
                    </a:rPr>
                    <a:t>SMOTE</a:t>
                  </a:r>
                  <a:endParaRPr lang="en-US" sz="950" dirty="0"/>
                </a:p>
              </p:txBody>
            </p:sp>
            <p:sp>
              <p:nvSpPr>
                <p:cNvPr id="17" name="Text 15"/>
                <p:cNvSpPr/>
                <p:nvPr/>
              </p:nvSpPr>
              <p:spPr>
                <a:xfrm>
                  <a:off x="9072" y="3888"/>
                  <a:ext cx="4608" cy="749"/>
                </a:xfrm>
                <a:prstGeom prst="rect">
                  <a:avLst/>
                </a:prstGeom>
                <a:noFill/>
              </p:spPr>
              <p:txBody>
                <a:bodyPr wrap="square" lIns="0" tIns="0" rIns="0" bIns="0" rtlCol="0" anchor="ctr"/>
                <a:lstStyle/>
                <a:p>
                  <a:pPr marL="0" indent="0">
                    <a:buNone/>
                  </a:pPr>
                  <a:r>
                    <a:rPr lang="en-US" sz="800" dirty="0">
                      <a:solidFill>
                        <a:srgbClr val="1E2A32"/>
                      </a:solidFill>
                    </a:rPr>
                    <a:t>df1: Recall jumps to 0.47 at cost of Precision dropping to 0.26. df2: SMOTE hurts — seizures are already the majority class, so synthesising more is counter-productive.</a:t>
                  </a:r>
                  <a:endParaRPr lang="en-US" sz="800" dirty="0"/>
                </a:p>
              </p:txBody>
            </p:sp>
          </p:grpSp>
        </p:grpSp>
        <p:grpSp>
          <p:nvGrpSpPr>
            <p:cNvPr id="31" name="Group 30"/>
            <p:cNvGrpSpPr/>
            <p:nvPr/>
          </p:nvGrpSpPr>
          <p:grpSpPr>
            <a:xfrm>
              <a:off x="5103" y="5567"/>
              <a:ext cx="5112" cy="1266"/>
              <a:chOff x="8784" y="4867"/>
              <a:chExt cx="5112" cy="1266"/>
            </a:xfrm>
          </p:grpSpPr>
          <p:sp>
            <p:nvSpPr>
              <p:cNvPr id="18" name="Shape 16"/>
              <p:cNvSpPr/>
              <p:nvPr/>
            </p:nvSpPr>
            <p:spPr>
              <a:xfrm>
                <a:off x="8784" y="4867"/>
                <a:ext cx="5112" cy="1267"/>
              </a:xfrm>
              <a:prstGeom prst="rect">
                <a:avLst/>
              </a:prstGeom>
              <a:solidFill>
                <a:srgbClr val="FFFFFF"/>
              </a:solidFill>
              <a:ln w="12700">
                <a:solidFill>
                  <a:srgbClr val="E0E8EE"/>
                </a:solidFill>
                <a:prstDash val="solid"/>
              </a:ln>
            </p:spPr>
          </p:sp>
          <p:sp>
            <p:nvSpPr>
              <p:cNvPr id="19" name="Shape 17"/>
              <p:cNvSpPr/>
              <p:nvPr/>
            </p:nvSpPr>
            <p:spPr>
              <a:xfrm>
                <a:off x="8784" y="4867"/>
                <a:ext cx="101" cy="1267"/>
              </a:xfrm>
              <a:prstGeom prst="rect">
                <a:avLst/>
              </a:prstGeom>
              <a:solidFill>
                <a:srgbClr val="8DAC28"/>
              </a:solidFill>
              <a:ln w="12700">
                <a:solidFill>
                  <a:srgbClr val="8DAC28"/>
                </a:solidFill>
                <a:prstDash val="solid"/>
              </a:ln>
            </p:spPr>
          </p:sp>
          <p:sp>
            <p:nvSpPr>
              <p:cNvPr id="20" name="Text 18"/>
              <p:cNvSpPr/>
              <p:nvPr/>
            </p:nvSpPr>
            <p:spPr>
              <a:xfrm>
                <a:off x="9072" y="4939"/>
                <a:ext cx="4608" cy="374"/>
              </a:xfrm>
              <a:prstGeom prst="rect">
                <a:avLst/>
              </a:prstGeom>
              <a:noFill/>
            </p:spPr>
            <p:txBody>
              <a:bodyPr wrap="square" lIns="0" tIns="0" rIns="0" bIns="0" rtlCol="0" anchor="ctr"/>
              <a:lstStyle/>
              <a:p>
                <a:pPr marL="0" indent="0">
                  <a:buNone/>
                </a:pPr>
                <a:r>
                  <a:rPr lang="en-US" sz="950" b="1" dirty="0">
                    <a:solidFill>
                      <a:srgbClr val="8DAC28"/>
                    </a:solidFill>
                  </a:rPr>
                  <a:t>Undersampling</a:t>
                </a:r>
                <a:endParaRPr lang="en-US" sz="950" dirty="0"/>
              </a:p>
            </p:txBody>
          </p:sp>
          <p:sp>
            <p:nvSpPr>
              <p:cNvPr id="21" name="Text 19"/>
              <p:cNvSpPr/>
              <p:nvPr/>
            </p:nvSpPr>
            <p:spPr>
              <a:xfrm>
                <a:off x="9072" y="5299"/>
                <a:ext cx="4608" cy="749"/>
              </a:xfrm>
              <a:prstGeom prst="rect">
                <a:avLst/>
              </a:prstGeom>
              <a:noFill/>
            </p:spPr>
            <p:txBody>
              <a:bodyPr wrap="square" lIns="0" tIns="0" rIns="0" bIns="0" rtlCol="0" anchor="ctr"/>
              <a:lstStyle/>
              <a:p>
                <a:pPr marL="0" indent="0">
                  <a:buNone/>
                </a:pPr>
                <a:r>
                  <a:rPr lang="en-US" sz="800" dirty="0">
                    <a:solidFill>
                      <a:srgbClr val="1E2A32"/>
                    </a:solidFill>
                  </a:rPr>
                  <a:t>Discards majority class samples to match minority. df1: similar recall to SMOTE but slightly lower F1. A safe method when you can afford to throw away data.</a:t>
                </a:r>
                <a:endParaRPr lang="en-US" sz="800" dirty="0"/>
              </a:p>
            </p:txBody>
          </p:sp>
        </p:grpSp>
        <p:grpSp>
          <p:nvGrpSpPr>
            <p:cNvPr id="32" name="Group 31"/>
            <p:cNvGrpSpPr/>
            <p:nvPr/>
          </p:nvGrpSpPr>
          <p:grpSpPr>
            <a:xfrm>
              <a:off x="5124" y="6834"/>
              <a:ext cx="5112" cy="1266"/>
              <a:chOff x="8784" y="6278"/>
              <a:chExt cx="5112" cy="1266"/>
            </a:xfrm>
          </p:grpSpPr>
          <p:sp>
            <p:nvSpPr>
              <p:cNvPr id="22" name="Shape 20"/>
              <p:cNvSpPr/>
              <p:nvPr/>
            </p:nvSpPr>
            <p:spPr>
              <a:xfrm>
                <a:off x="8784" y="6278"/>
                <a:ext cx="5112" cy="1267"/>
              </a:xfrm>
              <a:prstGeom prst="rect">
                <a:avLst/>
              </a:prstGeom>
              <a:solidFill>
                <a:srgbClr val="FFFFFF"/>
              </a:solidFill>
              <a:ln w="12700">
                <a:solidFill>
                  <a:srgbClr val="E0E8EE"/>
                </a:solidFill>
                <a:prstDash val="solid"/>
              </a:ln>
            </p:spPr>
          </p:sp>
          <p:sp>
            <p:nvSpPr>
              <p:cNvPr id="23" name="Shape 21"/>
              <p:cNvSpPr/>
              <p:nvPr/>
            </p:nvSpPr>
            <p:spPr>
              <a:xfrm>
                <a:off x="8784" y="6278"/>
                <a:ext cx="101" cy="1267"/>
              </a:xfrm>
              <a:prstGeom prst="rect">
                <a:avLst/>
              </a:prstGeom>
              <a:solidFill>
                <a:srgbClr val="A9B8C3"/>
              </a:solidFill>
              <a:ln w="12700">
                <a:solidFill>
                  <a:srgbClr val="A9B8C3"/>
                </a:solidFill>
                <a:prstDash val="solid"/>
              </a:ln>
            </p:spPr>
          </p:sp>
          <p:sp>
            <p:nvSpPr>
              <p:cNvPr id="24" name="Text 22"/>
              <p:cNvSpPr/>
              <p:nvPr/>
            </p:nvSpPr>
            <p:spPr>
              <a:xfrm>
                <a:off x="9072" y="6350"/>
                <a:ext cx="4608" cy="374"/>
              </a:xfrm>
              <a:prstGeom prst="rect">
                <a:avLst/>
              </a:prstGeom>
              <a:noFill/>
            </p:spPr>
            <p:txBody>
              <a:bodyPr wrap="square" lIns="0" tIns="0" rIns="0" bIns="0" rtlCol="0" anchor="ctr"/>
              <a:lstStyle/>
              <a:p>
                <a:pPr marL="0" indent="0">
                  <a:buNone/>
                </a:pPr>
                <a:r>
                  <a:rPr lang="en-US" sz="950" b="1" dirty="0">
                    <a:solidFill>
                      <a:srgbClr val="A9B8C3"/>
                    </a:solidFill>
                  </a:rPr>
                  <a:t>Class Weighting</a:t>
                </a:r>
                <a:endParaRPr lang="en-US" sz="950" dirty="0"/>
              </a:p>
            </p:txBody>
          </p:sp>
          <p:sp>
            <p:nvSpPr>
              <p:cNvPr id="25" name="Text 23"/>
              <p:cNvSpPr/>
              <p:nvPr/>
            </p:nvSpPr>
            <p:spPr>
              <a:xfrm>
                <a:off x="9072" y="6710"/>
                <a:ext cx="4608" cy="749"/>
              </a:xfrm>
              <a:prstGeom prst="rect">
                <a:avLst/>
              </a:prstGeom>
              <a:noFill/>
            </p:spPr>
            <p:txBody>
              <a:bodyPr wrap="square" lIns="0" tIns="0" rIns="0" bIns="0" rtlCol="0" anchor="ctr"/>
              <a:lstStyle/>
              <a:p>
                <a:pPr marL="0" indent="0">
                  <a:buNone/>
                </a:pPr>
                <a:r>
                  <a:rPr lang="en-US" sz="800" dirty="0">
                    <a:solidFill>
                      <a:srgbClr val="1E2A32"/>
                    </a:solidFill>
                  </a:rPr>
                  <a:t>Penalises misclassifying the minority class more heavily in the loss function. No synthetic data — cleanest intervention. Results match SMOTE closely across all datasets.</a:t>
                </a:r>
                <a:endParaRPr lang="en-US" sz="800" dirty="0"/>
              </a:p>
            </p:txBody>
          </p:sp>
        </p:grpSp>
      </p:grpSp>
      <p:grpSp>
        <p:nvGrpSpPr>
          <p:cNvPr id="33" name="Group 32"/>
          <p:cNvGrpSpPr/>
          <p:nvPr/>
        </p:nvGrpSpPr>
        <p:grpSpPr>
          <a:xfrm>
            <a:off x="0" y="3661410"/>
            <a:ext cx="9124950" cy="328930"/>
            <a:chOff x="8784" y="7455"/>
            <a:chExt cx="5112" cy="580"/>
          </a:xfrm>
        </p:grpSpPr>
        <p:sp>
          <p:nvSpPr>
            <p:cNvPr id="26" name="Shape 24"/>
            <p:cNvSpPr/>
            <p:nvPr/>
          </p:nvSpPr>
          <p:spPr>
            <a:xfrm>
              <a:off x="8784" y="7455"/>
              <a:ext cx="5112" cy="494"/>
            </a:xfrm>
            <a:prstGeom prst="rect">
              <a:avLst/>
            </a:prstGeom>
            <a:solidFill>
              <a:srgbClr val="F4F8FB"/>
            </a:solidFill>
            <a:ln w="12700">
              <a:solidFill>
                <a:srgbClr val="A9B8C3"/>
              </a:solidFill>
              <a:prstDash val="solid"/>
            </a:ln>
          </p:spPr>
        </p:sp>
        <p:sp>
          <p:nvSpPr>
            <p:cNvPr id="27" name="Text 25"/>
            <p:cNvSpPr/>
            <p:nvPr/>
          </p:nvSpPr>
          <p:spPr>
            <a:xfrm>
              <a:off x="8784" y="7455"/>
              <a:ext cx="5112" cy="580"/>
            </a:xfrm>
            <a:prstGeom prst="rect">
              <a:avLst/>
            </a:prstGeom>
            <a:noFill/>
          </p:spPr>
          <p:txBody>
            <a:bodyPr wrap="square" lIns="25400" tIns="25400" rIns="25400" bIns="25400" rtlCol="0" anchor="ctr"/>
            <a:lstStyle/>
            <a:p>
              <a:pPr marL="0" indent="0" algn="ctr">
                <a:buNone/>
              </a:pPr>
              <a:r>
                <a:rPr lang="en-US" sz="750" i="1" dirty="0">
                  <a:solidFill>
                    <a:srgbClr val="1E2A32"/>
                  </a:solidFill>
                </a:rPr>
                <a:t>df3 (balanced 1:1): all methods produce identical results — resampling has no effect on an already-balanced dataset.</a:t>
              </a:r>
              <a:endParaRPr lang="en-US" sz="750" dirty="0"/>
            </a:p>
          </p:txBody>
        </p:sp>
      </p:grpSp>
      <p:pic>
        <p:nvPicPr>
          <p:cNvPr id="35" name="Picture 34"/>
          <p:cNvPicPr>
            <a:picLocks noChangeAspect="1"/>
          </p:cNvPicPr>
          <p:nvPr/>
        </p:nvPicPr>
        <p:blipFill>
          <a:blip r:embed="rId1"/>
          <a:stretch>
            <a:fillRect/>
          </a:stretch>
        </p:blipFill>
        <p:spPr>
          <a:xfrm>
            <a:off x="846455" y="1232535"/>
            <a:ext cx="7065010" cy="2346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8B9DA"/>
          </a:solidFill>
          <a:ln w="12700">
            <a:solidFill>
              <a:srgbClr val="58B9DA"/>
            </a:solidFill>
            <a:prstDash val="solid"/>
          </a:ln>
        </p:spPr>
      </p:sp>
      <p:sp>
        <p:nvSpPr>
          <p:cNvPr id="3" name="Text 1"/>
          <p:cNvSpPr/>
          <p:nvPr/>
        </p:nvSpPr>
        <p:spPr>
          <a:xfrm>
            <a:off x="365760" y="0"/>
            <a:ext cx="8412480" cy="658368"/>
          </a:xfrm>
          <a:prstGeom prst="rect">
            <a:avLst/>
          </a:prstGeom>
          <a:noFill/>
        </p:spPr>
        <p:txBody>
          <a:bodyPr wrap="square" lIns="0" tIns="0" rIns="0" bIns="0" rtlCol="0" anchor="ctr"/>
          <a:lstStyle/>
          <a:p>
            <a:pPr marL="0" indent="0" algn="l">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  |  Comparative Analysis — 4 Research Questions</a:t>
            </a:r>
            <a:endParaRPr lang="en-US" sz="1900" dirty="0"/>
          </a:p>
        </p:txBody>
      </p:sp>
      <p:sp>
        <p:nvSpPr>
          <p:cNvPr id="4" name="Shape 2"/>
          <p:cNvSpPr/>
          <p:nvPr/>
        </p:nvSpPr>
        <p:spPr>
          <a:xfrm>
            <a:off x="320040" y="804672"/>
            <a:ext cx="4114800" cy="1993392"/>
          </a:xfrm>
          <a:prstGeom prst="rect">
            <a:avLst/>
          </a:prstGeom>
          <a:solidFill>
            <a:srgbClr val="F4F8FB"/>
          </a:solidFill>
          <a:ln w="12700">
            <a:solidFill>
              <a:srgbClr val="E0E8EE"/>
            </a:solidFill>
            <a:prstDash val="solid"/>
          </a:ln>
        </p:spPr>
      </p:sp>
      <p:sp>
        <p:nvSpPr>
          <p:cNvPr id="5" name="Shape 3"/>
          <p:cNvSpPr/>
          <p:nvPr/>
        </p:nvSpPr>
        <p:spPr>
          <a:xfrm>
            <a:off x="320040" y="804672"/>
            <a:ext cx="4114800" cy="91440"/>
          </a:xfrm>
          <a:prstGeom prst="rect">
            <a:avLst/>
          </a:prstGeom>
          <a:solidFill>
            <a:srgbClr val="8DAC28"/>
          </a:solidFill>
          <a:ln w="12700">
            <a:solidFill>
              <a:srgbClr val="8DAC28"/>
            </a:solidFill>
            <a:prstDash val="solid"/>
          </a:ln>
        </p:spPr>
      </p:sp>
      <p:sp>
        <p:nvSpPr>
          <p:cNvPr id="6" name="Shape 4"/>
          <p:cNvSpPr/>
          <p:nvPr/>
        </p:nvSpPr>
        <p:spPr>
          <a:xfrm>
            <a:off x="3410712" y="914400"/>
            <a:ext cx="932688" cy="256032"/>
          </a:xfrm>
          <a:prstGeom prst="rect">
            <a:avLst/>
          </a:prstGeom>
          <a:solidFill>
            <a:srgbClr val="8DAC28"/>
          </a:solidFill>
          <a:ln w="12700">
            <a:solidFill>
              <a:srgbClr val="8DAC28"/>
            </a:solidFill>
            <a:prstDash val="solid"/>
          </a:ln>
        </p:spPr>
      </p:sp>
      <p:sp>
        <p:nvSpPr>
          <p:cNvPr id="7" name="Text 5"/>
          <p:cNvSpPr/>
          <p:nvPr/>
        </p:nvSpPr>
        <p:spPr>
          <a:xfrm>
            <a:off x="3410712" y="914400"/>
            <a:ext cx="932688" cy="256032"/>
          </a:xfrm>
          <a:prstGeom prst="rect">
            <a:avLst/>
          </a:prstGeom>
          <a:noFill/>
        </p:spPr>
        <p:txBody>
          <a:bodyPr wrap="square" lIns="0" tIns="0" rIns="0" bIns="0" rtlCol="0" anchor="ctr"/>
          <a:lstStyle/>
          <a:p>
            <a:pPr marL="0" indent="0" algn="ctr">
              <a:buNone/>
            </a:pPr>
            <a:r>
              <a:rPr lang="en-US" sz="650" b="1" dirty="0">
                <a:solidFill>
                  <a:srgbClr val="FFFFFF"/>
                </a:solidFill>
              </a:rPr>
              <a:t>SIGNIFICANT</a:t>
            </a:r>
            <a:endParaRPr lang="en-US" sz="650" dirty="0"/>
          </a:p>
        </p:txBody>
      </p:sp>
      <p:sp>
        <p:nvSpPr>
          <p:cNvPr id="8" name="Text 6"/>
          <p:cNvSpPr/>
          <p:nvPr/>
        </p:nvSpPr>
        <p:spPr>
          <a:xfrm>
            <a:off x="429768" y="941832"/>
            <a:ext cx="2926080" cy="347472"/>
          </a:xfrm>
          <a:prstGeom prst="rect">
            <a:avLst/>
          </a:prstGeom>
          <a:noFill/>
        </p:spPr>
        <p:txBody>
          <a:bodyPr wrap="square" lIns="0" tIns="0" rIns="0" bIns="0" rtlCol="0" anchor="ctr"/>
          <a:lstStyle/>
          <a:p>
            <a:pPr marL="0" indent="0">
              <a:buNone/>
            </a:pPr>
            <a:r>
              <a:rPr lang="en-US" sz="950" b="1" dirty="0">
                <a:solidFill>
                  <a:srgbClr val="1E2A32"/>
                </a:solidFill>
              </a:rPr>
              <a:t>Q1  Does preprocessing order affect results?</a:t>
            </a:r>
            <a:endParaRPr lang="en-US" sz="950" dirty="0"/>
          </a:p>
        </p:txBody>
      </p:sp>
      <p:sp>
        <p:nvSpPr>
          <p:cNvPr id="9" name="Text 7"/>
          <p:cNvSpPr/>
          <p:nvPr/>
        </p:nvSpPr>
        <p:spPr>
          <a:xfrm>
            <a:off x="429768" y="1307592"/>
            <a:ext cx="3840480" cy="274320"/>
          </a:xfrm>
          <a:prstGeom prst="rect">
            <a:avLst/>
          </a:prstGeom>
          <a:noFill/>
        </p:spPr>
        <p:txBody>
          <a:bodyPr wrap="square" lIns="0" tIns="0" rIns="0" bIns="0" rtlCol="0" anchor="ctr"/>
          <a:lstStyle/>
          <a:p>
            <a:pPr marL="0" indent="0">
              <a:buNone/>
            </a:pPr>
            <a:r>
              <a:rPr lang="en-US" sz="1300" b="1" dirty="0">
                <a:solidFill>
                  <a:srgbClr val="8DAC28"/>
                </a:solidFill>
              </a:rPr>
              <a:t>YES — strongly</a:t>
            </a:r>
            <a:endParaRPr lang="en-US" sz="1300" dirty="0"/>
          </a:p>
        </p:txBody>
      </p:sp>
      <p:sp>
        <p:nvSpPr>
          <p:cNvPr id="10" name="Text 8"/>
          <p:cNvSpPr/>
          <p:nvPr/>
        </p:nvSpPr>
        <p:spPr>
          <a:xfrm>
            <a:off x="429768" y="1609344"/>
            <a:ext cx="3877056" cy="1115568"/>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Mean |ΔF1| = 0.378. Worst case df1: A=0.051 vs B=0.856 (gap of 0.805). Feature extraction before scaling is the decisive difference — it strips noise and correlation before the model ever sees the data.</a:t>
            </a:r>
            <a:endParaRPr lang="en-US" sz="850" dirty="0"/>
          </a:p>
        </p:txBody>
      </p:sp>
      <p:sp>
        <p:nvSpPr>
          <p:cNvPr id="11" name="Shape 9"/>
          <p:cNvSpPr/>
          <p:nvPr/>
        </p:nvSpPr>
        <p:spPr>
          <a:xfrm>
            <a:off x="4782312" y="804672"/>
            <a:ext cx="4114800" cy="1993392"/>
          </a:xfrm>
          <a:prstGeom prst="rect">
            <a:avLst/>
          </a:prstGeom>
          <a:solidFill>
            <a:srgbClr val="F4F8FB"/>
          </a:solidFill>
          <a:ln w="12700">
            <a:solidFill>
              <a:srgbClr val="E0E8EE"/>
            </a:solidFill>
            <a:prstDash val="solid"/>
          </a:ln>
        </p:spPr>
      </p:sp>
      <p:sp>
        <p:nvSpPr>
          <p:cNvPr id="12" name="Shape 10"/>
          <p:cNvSpPr/>
          <p:nvPr/>
        </p:nvSpPr>
        <p:spPr>
          <a:xfrm>
            <a:off x="4782312" y="804672"/>
            <a:ext cx="4114800" cy="91440"/>
          </a:xfrm>
          <a:prstGeom prst="rect">
            <a:avLst/>
          </a:prstGeom>
          <a:solidFill>
            <a:srgbClr val="58B9DA"/>
          </a:solidFill>
          <a:ln w="12700">
            <a:solidFill>
              <a:srgbClr val="58B9DA"/>
            </a:solidFill>
            <a:prstDash val="solid"/>
          </a:ln>
        </p:spPr>
      </p:sp>
      <p:sp>
        <p:nvSpPr>
          <p:cNvPr id="13" name="Shape 11"/>
          <p:cNvSpPr/>
          <p:nvPr/>
        </p:nvSpPr>
        <p:spPr>
          <a:xfrm>
            <a:off x="7872984" y="914400"/>
            <a:ext cx="932688" cy="256032"/>
          </a:xfrm>
          <a:prstGeom prst="rect">
            <a:avLst/>
          </a:prstGeom>
          <a:solidFill>
            <a:srgbClr val="58B9DA"/>
          </a:solidFill>
          <a:ln w="12700">
            <a:solidFill>
              <a:srgbClr val="58B9DA"/>
            </a:solidFill>
            <a:prstDash val="solid"/>
          </a:ln>
        </p:spPr>
      </p:sp>
      <p:sp>
        <p:nvSpPr>
          <p:cNvPr id="14" name="Text 12"/>
          <p:cNvSpPr/>
          <p:nvPr/>
        </p:nvSpPr>
        <p:spPr>
          <a:xfrm>
            <a:off x="7872984" y="914400"/>
            <a:ext cx="932688" cy="256032"/>
          </a:xfrm>
          <a:prstGeom prst="rect">
            <a:avLst/>
          </a:prstGeom>
          <a:noFill/>
        </p:spPr>
        <p:txBody>
          <a:bodyPr wrap="square" lIns="0" tIns="0" rIns="0" bIns="0" rtlCol="0" anchor="ctr"/>
          <a:lstStyle/>
          <a:p>
            <a:pPr marL="0" indent="0" algn="ctr">
              <a:buNone/>
            </a:pPr>
            <a:r>
              <a:rPr lang="en-US" sz="650" b="1" dirty="0">
                <a:solidFill>
                  <a:srgbClr val="FFFFFF"/>
                </a:solidFill>
              </a:rPr>
              <a:t>L2 WINS</a:t>
            </a:r>
            <a:endParaRPr lang="en-US" sz="650" dirty="0"/>
          </a:p>
        </p:txBody>
      </p:sp>
      <p:sp>
        <p:nvSpPr>
          <p:cNvPr id="15" name="Text 13"/>
          <p:cNvSpPr/>
          <p:nvPr/>
        </p:nvSpPr>
        <p:spPr>
          <a:xfrm>
            <a:off x="4892040" y="941832"/>
            <a:ext cx="2926080" cy="347472"/>
          </a:xfrm>
          <a:prstGeom prst="rect">
            <a:avLst/>
          </a:prstGeom>
          <a:noFill/>
        </p:spPr>
        <p:txBody>
          <a:bodyPr wrap="square" lIns="0" tIns="0" rIns="0" bIns="0" rtlCol="0" anchor="ctr"/>
          <a:lstStyle/>
          <a:p>
            <a:pPr marL="0" indent="0">
              <a:buNone/>
            </a:pPr>
            <a:r>
              <a:rPr lang="en-US" sz="950" b="1" dirty="0">
                <a:solidFill>
                  <a:srgbClr val="1E2A32"/>
                </a:solidFill>
              </a:rPr>
              <a:t>Q2  Which regularisation generalises best?</a:t>
            </a:r>
            <a:endParaRPr lang="en-US" sz="950" dirty="0"/>
          </a:p>
        </p:txBody>
      </p:sp>
      <p:sp>
        <p:nvSpPr>
          <p:cNvPr id="16" name="Text 14"/>
          <p:cNvSpPr/>
          <p:nvPr/>
        </p:nvSpPr>
        <p:spPr>
          <a:xfrm>
            <a:off x="4892040" y="1307592"/>
            <a:ext cx="3840480" cy="274320"/>
          </a:xfrm>
          <a:prstGeom prst="rect">
            <a:avLst/>
          </a:prstGeom>
          <a:noFill/>
        </p:spPr>
        <p:txBody>
          <a:bodyPr wrap="square" lIns="0" tIns="0" rIns="0" bIns="0" rtlCol="0" anchor="ctr"/>
          <a:lstStyle/>
          <a:p>
            <a:pPr marL="0" indent="0">
              <a:buNone/>
            </a:pPr>
            <a:r>
              <a:rPr lang="en-US" sz="1300" b="1" dirty="0">
                <a:solidFill>
                  <a:srgbClr val="58B9DA"/>
                </a:solidFill>
              </a:rPr>
              <a:t>L2 (Ridge)</a:t>
            </a:r>
            <a:endParaRPr lang="en-US" sz="1300" dirty="0"/>
          </a:p>
        </p:txBody>
      </p:sp>
      <p:sp>
        <p:nvSpPr>
          <p:cNvPr id="17" name="Text 15"/>
          <p:cNvSpPr/>
          <p:nvPr/>
        </p:nvSpPr>
        <p:spPr>
          <a:xfrm>
            <a:off x="4892040" y="1609344"/>
            <a:ext cx="3877056" cy="1115568"/>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Mean F1: L2=0.463 · L1=0.456 · ElasticNet=0.456. L2's continuous, dense shrinkage is most stable across datasets with different dimensionality and imbalance profiles. L1 collapses on df3 at low C.</a:t>
            </a:r>
            <a:endParaRPr lang="en-US" sz="850" dirty="0"/>
          </a:p>
        </p:txBody>
      </p:sp>
      <p:sp>
        <p:nvSpPr>
          <p:cNvPr id="18" name="Shape 16"/>
          <p:cNvSpPr/>
          <p:nvPr/>
        </p:nvSpPr>
        <p:spPr>
          <a:xfrm>
            <a:off x="320040" y="2907792"/>
            <a:ext cx="4114800" cy="1993392"/>
          </a:xfrm>
          <a:prstGeom prst="rect">
            <a:avLst/>
          </a:prstGeom>
          <a:solidFill>
            <a:srgbClr val="F4F8FB"/>
          </a:solidFill>
          <a:ln w="12700">
            <a:solidFill>
              <a:srgbClr val="E0E8EE"/>
            </a:solidFill>
            <a:prstDash val="solid"/>
          </a:ln>
        </p:spPr>
      </p:sp>
      <p:sp>
        <p:nvSpPr>
          <p:cNvPr id="19" name="Shape 17"/>
          <p:cNvSpPr/>
          <p:nvPr/>
        </p:nvSpPr>
        <p:spPr>
          <a:xfrm>
            <a:off x="320040" y="2907792"/>
            <a:ext cx="4114800" cy="91440"/>
          </a:xfrm>
          <a:prstGeom prst="rect">
            <a:avLst/>
          </a:prstGeom>
          <a:solidFill>
            <a:srgbClr val="A9B8C3"/>
          </a:solidFill>
          <a:ln w="12700">
            <a:solidFill>
              <a:srgbClr val="A9B8C3"/>
            </a:solidFill>
            <a:prstDash val="solid"/>
          </a:ln>
        </p:spPr>
      </p:sp>
      <p:sp>
        <p:nvSpPr>
          <p:cNvPr id="20" name="Shape 18"/>
          <p:cNvSpPr/>
          <p:nvPr/>
        </p:nvSpPr>
        <p:spPr>
          <a:xfrm>
            <a:off x="3410712" y="3017520"/>
            <a:ext cx="932688" cy="256032"/>
          </a:xfrm>
          <a:prstGeom prst="rect">
            <a:avLst/>
          </a:prstGeom>
          <a:solidFill>
            <a:srgbClr val="A9B8C3"/>
          </a:solidFill>
          <a:ln w="12700">
            <a:solidFill>
              <a:srgbClr val="A9B8C3"/>
            </a:solidFill>
            <a:prstDash val="solid"/>
          </a:ln>
        </p:spPr>
      </p:sp>
      <p:sp>
        <p:nvSpPr>
          <p:cNvPr id="21" name="Text 19"/>
          <p:cNvSpPr/>
          <p:nvPr/>
        </p:nvSpPr>
        <p:spPr>
          <a:xfrm>
            <a:off x="3410712" y="3017520"/>
            <a:ext cx="932688" cy="256032"/>
          </a:xfrm>
          <a:prstGeom prst="rect">
            <a:avLst/>
          </a:prstGeom>
          <a:noFill/>
        </p:spPr>
        <p:txBody>
          <a:bodyPr wrap="square" lIns="0" tIns="0" rIns="0" bIns="0" rtlCol="0" anchor="ctr"/>
          <a:lstStyle/>
          <a:p>
            <a:pPr marL="0" indent="0" algn="ctr">
              <a:buNone/>
            </a:pPr>
            <a:r>
              <a:rPr lang="en-US" sz="650" b="1" dirty="0">
                <a:solidFill>
                  <a:srgbClr val="FFFFFF"/>
                </a:solidFill>
              </a:rPr>
              <a:t>DOES NOT</a:t>
            </a:r>
            <a:endParaRPr lang="en-US" sz="650" dirty="0"/>
          </a:p>
        </p:txBody>
      </p:sp>
      <p:sp>
        <p:nvSpPr>
          <p:cNvPr id="22" name="Text 20"/>
          <p:cNvSpPr/>
          <p:nvPr/>
        </p:nvSpPr>
        <p:spPr>
          <a:xfrm>
            <a:off x="429768" y="3044952"/>
            <a:ext cx="2926080" cy="347472"/>
          </a:xfrm>
          <a:prstGeom prst="rect">
            <a:avLst/>
          </a:prstGeom>
          <a:noFill/>
        </p:spPr>
        <p:txBody>
          <a:bodyPr wrap="square" lIns="0" tIns="0" rIns="0" bIns="0" rtlCol="0" anchor="ctr"/>
          <a:lstStyle/>
          <a:p>
            <a:pPr marL="0" indent="0">
              <a:buNone/>
            </a:pPr>
            <a:r>
              <a:rPr lang="en-US" sz="950" b="1" dirty="0">
                <a:solidFill>
                  <a:srgbClr val="1E2A32"/>
                </a:solidFill>
              </a:rPr>
              <a:t>Q3  Does Elastic Net consistently beat L1/L2?</a:t>
            </a:r>
            <a:endParaRPr lang="en-US" sz="950" dirty="0"/>
          </a:p>
        </p:txBody>
      </p:sp>
      <p:sp>
        <p:nvSpPr>
          <p:cNvPr id="23" name="Text 21"/>
          <p:cNvSpPr/>
          <p:nvPr/>
        </p:nvSpPr>
        <p:spPr>
          <a:xfrm>
            <a:off x="429768" y="3410712"/>
            <a:ext cx="3840480" cy="274320"/>
          </a:xfrm>
          <a:prstGeom prst="rect">
            <a:avLst/>
          </a:prstGeom>
          <a:noFill/>
        </p:spPr>
        <p:txBody>
          <a:bodyPr wrap="square" lIns="0" tIns="0" rIns="0" bIns="0" rtlCol="0" anchor="ctr"/>
          <a:lstStyle/>
          <a:p>
            <a:pPr marL="0" indent="0">
              <a:buNone/>
            </a:pPr>
            <a:r>
              <a:rPr lang="en-US" sz="1300" b="1" dirty="0">
                <a:solidFill>
                  <a:srgbClr val="A9B8C3"/>
                </a:solidFill>
              </a:rPr>
              <a:t>NO</a:t>
            </a:r>
            <a:endParaRPr lang="en-US" sz="1300" dirty="0"/>
          </a:p>
        </p:txBody>
      </p:sp>
      <p:sp>
        <p:nvSpPr>
          <p:cNvPr id="24" name="Text 22"/>
          <p:cNvSpPr/>
          <p:nvPr/>
        </p:nvSpPr>
        <p:spPr>
          <a:xfrm>
            <a:off x="429768" y="3712464"/>
            <a:ext cx="3877056" cy="1115568"/>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Wins only 5/18 comparisons (28%). Without tuning l1_ratio and without structured feature correlation in the data, Elastic Net adds complexity without benefit. Default l1_ratio was used throughout.</a:t>
            </a:r>
            <a:endParaRPr lang="en-US" sz="850" dirty="0"/>
          </a:p>
        </p:txBody>
      </p:sp>
      <p:sp>
        <p:nvSpPr>
          <p:cNvPr id="25" name="Shape 23"/>
          <p:cNvSpPr/>
          <p:nvPr/>
        </p:nvSpPr>
        <p:spPr>
          <a:xfrm>
            <a:off x="4782312" y="2907792"/>
            <a:ext cx="4114800" cy="1993392"/>
          </a:xfrm>
          <a:prstGeom prst="rect">
            <a:avLst/>
          </a:prstGeom>
          <a:solidFill>
            <a:srgbClr val="F4F8FB"/>
          </a:solidFill>
          <a:ln w="12700">
            <a:solidFill>
              <a:srgbClr val="E0E8EE"/>
            </a:solidFill>
            <a:prstDash val="solid"/>
          </a:ln>
        </p:spPr>
      </p:sp>
      <p:sp>
        <p:nvSpPr>
          <p:cNvPr id="26" name="Shape 24"/>
          <p:cNvSpPr/>
          <p:nvPr/>
        </p:nvSpPr>
        <p:spPr>
          <a:xfrm>
            <a:off x="4782312" y="2907792"/>
            <a:ext cx="4114800" cy="91440"/>
          </a:xfrm>
          <a:prstGeom prst="rect">
            <a:avLst/>
          </a:prstGeom>
          <a:solidFill>
            <a:srgbClr val="C0392B"/>
          </a:solidFill>
          <a:ln w="12700">
            <a:solidFill>
              <a:srgbClr val="C0392B"/>
            </a:solidFill>
            <a:prstDash val="solid"/>
          </a:ln>
        </p:spPr>
      </p:sp>
      <p:sp>
        <p:nvSpPr>
          <p:cNvPr id="27" name="Shape 25"/>
          <p:cNvSpPr/>
          <p:nvPr/>
        </p:nvSpPr>
        <p:spPr>
          <a:xfrm>
            <a:off x="7872984" y="3017520"/>
            <a:ext cx="932688" cy="256032"/>
          </a:xfrm>
          <a:prstGeom prst="rect">
            <a:avLst/>
          </a:prstGeom>
          <a:solidFill>
            <a:srgbClr val="C0392B"/>
          </a:solidFill>
          <a:ln w="12700">
            <a:solidFill>
              <a:srgbClr val="C0392B"/>
            </a:solidFill>
            <a:prstDash val="solid"/>
          </a:ln>
        </p:spPr>
      </p:sp>
      <p:sp>
        <p:nvSpPr>
          <p:cNvPr id="28" name="Text 26"/>
          <p:cNvSpPr/>
          <p:nvPr/>
        </p:nvSpPr>
        <p:spPr>
          <a:xfrm>
            <a:off x="7872984" y="3017520"/>
            <a:ext cx="932688" cy="256032"/>
          </a:xfrm>
          <a:prstGeom prst="rect">
            <a:avLst/>
          </a:prstGeom>
          <a:noFill/>
        </p:spPr>
        <p:txBody>
          <a:bodyPr wrap="square" lIns="0" tIns="0" rIns="0" bIns="0" rtlCol="0" anchor="ctr"/>
          <a:lstStyle/>
          <a:p>
            <a:pPr marL="0" indent="0" algn="ctr">
              <a:buNone/>
            </a:pPr>
            <a:r>
              <a:rPr lang="en-US" sz="650" b="1" dirty="0">
                <a:solidFill>
                  <a:srgbClr val="FFFFFF"/>
                </a:solidFill>
              </a:rPr>
              <a:t>DIRECTION MATTERS</a:t>
            </a:r>
            <a:endParaRPr lang="en-US" sz="650" dirty="0"/>
          </a:p>
        </p:txBody>
      </p:sp>
      <p:sp>
        <p:nvSpPr>
          <p:cNvPr id="29" name="Text 27"/>
          <p:cNvSpPr/>
          <p:nvPr/>
        </p:nvSpPr>
        <p:spPr>
          <a:xfrm>
            <a:off x="4892040" y="3044952"/>
            <a:ext cx="2926080" cy="347472"/>
          </a:xfrm>
          <a:prstGeom prst="rect">
            <a:avLst/>
          </a:prstGeom>
          <a:noFill/>
        </p:spPr>
        <p:txBody>
          <a:bodyPr wrap="square" lIns="0" tIns="0" rIns="0" bIns="0" rtlCol="0" anchor="ctr"/>
          <a:lstStyle/>
          <a:p>
            <a:pPr marL="0" indent="0">
              <a:buNone/>
            </a:pPr>
            <a:r>
              <a:rPr lang="en-US" sz="950" b="1" dirty="0">
                <a:solidFill>
                  <a:srgbClr val="1E2A32"/>
                </a:solidFill>
              </a:rPr>
              <a:t>Q4  How does imbalance handling interact with regularisation?</a:t>
            </a:r>
            <a:endParaRPr lang="en-US" sz="950" dirty="0"/>
          </a:p>
        </p:txBody>
      </p:sp>
      <p:sp>
        <p:nvSpPr>
          <p:cNvPr id="30" name="Text 28"/>
          <p:cNvSpPr/>
          <p:nvPr/>
        </p:nvSpPr>
        <p:spPr>
          <a:xfrm>
            <a:off x="4892040" y="3410712"/>
            <a:ext cx="3840480" cy="274320"/>
          </a:xfrm>
          <a:prstGeom prst="rect">
            <a:avLst/>
          </a:prstGeom>
          <a:noFill/>
        </p:spPr>
        <p:txBody>
          <a:bodyPr wrap="square" lIns="0" tIns="0" rIns="0" bIns="0" rtlCol="0" anchor="ctr"/>
          <a:lstStyle/>
          <a:p>
            <a:pPr marL="0" indent="0">
              <a:buNone/>
            </a:pPr>
            <a:r>
              <a:rPr lang="en-US" sz="1300" b="1" dirty="0">
                <a:solidFill>
                  <a:srgbClr val="C0392B"/>
                </a:solidFill>
              </a:rPr>
              <a:t>It depends on imbalance direction</a:t>
            </a:r>
            <a:endParaRPr lang="en-US" sz="1300" dirty="0"/>
          </a:p>
        </p:txBody>
      </p:sp>
      <p:sp>
        <p:nvSpPr>
          <p:cNvPr id="31" name="Text 29"/>
          <p:cNvSpPr/>
          <p:nvPr/>
        </p:nvSpPr>
        <p:spPr>
          <a:xfrm>
            <a:off x="4892040" y="3712464"/>
            <a:ext cx="3877056" cy="1115568"/>
          </a:xfrm>
          <a:prstGeom prst="rect">
            <a:avLst/>
          </a:prstGeom>
          <a:noFill/>
        </p:spPr>
        <p:txBody>
          <a:bodyPr wrap="square" lIns="0" tIns="0" rIns="0" bIns="0" rtlCol="0" anchor="ctr"/>
          <a:lstStyle/>
          <a:p>
            <a:pPr marL="0" indent="0">
              <a:buNone/>
            </a:pPr>
            <a:r>
              <a:rPr lang="en-US" sz="850" dirty="0">
                <a:solidFill>
                  <a:srgbClr val="1E2A32"/>
                </a:solidFill>
                <a:latin typeface="Calibri" panose="020F0502020204030204" pitchFamily="34" charset="0"/>
                <a:ea typeface="Calibri" panose="020F0502020204030204" pitchFamily="34" charset="-122"/>
                <a:cs typeface="Calibri" panose="020F0502020204030204" pitchFamily="34" charset="-120"/>
              </a:rPr>
              <a:t>df1 (non-seizure heavy): SMOTE gives +0.30 gain for all penalties. df2 (seizure heavy): SMOTE hurts (L1 loses −0.10, L2 loses −0.04). L2 is most robust to the reversal. df3 (balanced): no effect from any method.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A32"/>
        </a:solidFill>
        <a:effectLst/>
      </p:bgPr>
    </p:bg>
    <p:spTree>
      <p:nvGrpSpPr>
        <p:cNvPr id="1" name=""/>
        <p:cNvGrpSpPr/>
        <p:nvPr/>
      </p:nvGrpSpPr>
      <p:grpSpPr>
        <a:xfrm>
          <a:off x="0" y="0"/>
          <a:ext cx="0" cy="0"/>
          <a:chOff x="0" y="0"/>
          <a:chExt cx="0" cy="0"/>
        </a:xfrm>
      </p:grpSpPr>
      <p:sp>
        <p:nvSpPr>
          <p:cNvPr id="2" name="Shape 0"/>
          <p:cNvSpPr/>
          <p:nvPr/>
        </p:nvSpPr>
        <p:spPr>
          <a:xfrm>
            <a:off x="7772400" y="0"/>
            <a:ext cx="1371600" cy="5143500"/>
          </a:xfrm>
          <a:prstGeom prst="rect">
            <a:avLst/>
          </a:prstGeom>
          <a:solidFill>
            <a:srgbClr val="58B9DA">
              <a:alpha val="70000"/>
            </a:srgbClr>
          </a:solidFill>
          <a:ln w="12700">
            <a:solidFill>
              <a:srgbClr val="58B9DA">
                <a:alpha val="70000"/>
              </a:srgbClr>
            </a:solidFill>
            <a:prstDash val="solid"/>
          </a:ln>
        </p:spPr>
      </p:sp>
      <p:sp>
        <p:nvSpPr>
          <p:cNvPr id="3" name="Shape 1"/>
          <p:cNvSpPr/>
          <p:nvPr/>
        </p:nvSpPr>
        <p:spPr>
          <a:xfrm>
            <a:off x="8412480" y="0"/>
            <a:ext cx="731520" cy="5143500"/>
          </a:xfrm>
          <a:prstGeom prst="rect">
            <a:avLst/>
          </a:prstGeom>
          <a:solidFill>
            <a:srgbClr val="8DAC28">
              <a:alpha val="60000"/>
            </a:srgbClr>
          </a:solidFill>
          <a:ln w="12700">
            <a:solidFill>
              <a:srgbClr val="8DAC28">
                <a:alpha val="60000"/>
              </a:srgbClr>
            </a:solidFill>
            <a:prstDash val="solid"/>
          </a:ln>
        </p:spPr>
      </p:sp>
      <p:sp>
        <p:nvSpPr>
          <p:cNvPr id="4" name="Text 2"/>
          <p:cNvSpPr/>
          <p:nvPr/>
        </p:nvSpPr>
        <p:spPr>
          <a:xfrm>
            <a:off x="457200" y="274320"/>
            <a:ext cx="6858000" cy="640080"/>
          </a:xfrm>
          <a:prstGeom prst="rect">
            <a:avLst/>
          </a:prstGeom>
          <a:noFill/>
        </p:spPr>
        <p:txBody>
          <a:bodyPr wrap="square" lIns="0" tIns="0" rIns="0" bIns="0"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5" name="Shape 3"/>
          <p:cNvSpPr/>
          <p:nvPr/>
        </p:nvSpPr>
        <p:spPr>
          <a:xfrm>
            <a:off x="457200" y="960120"/>
            <a:ext cx="3200400" cy="45720"/>
          </a:xfrm>
          <a:prstGeom prst="rect">
            <a:avLst/>
          </a:prstGeom>
          <a:solidFill>
            <a:srgbClr val="58B9DA"/>
          </a:solidFill>
          <a:ln w="12700">
            <a:solidFill>
              <a:srgbClr val="58B9DA"/>
            </a:solidFill>
            <a:prstDash val="solid"/>
          </a:ln>
        </p:spPr>
      </p:sp>
      <p:sp>
        <p:nvSpPr>
          <p:cNvPr id="6" name="Shape 4"/>
          <p:cNvSpPr/>
          <p:nvPr/>
        </p:nvSpPr>
        <p:spPr>
          <a:xfrm>
            <a:off x="457200" y="1188720"/>
            <a:ext cx="365760" cy="365760"/>
          </a:xfrm>
          <a:prstGeom prst="ellipse">
            <a:avLst/>
          </a:prstGeom>
          <a:solidFill>
            <a:srgbClr val="58B9DA"/>
          </a:solidFill>
          <a:ln w="12700">
            <a:solidFill>
              <a:srgbClr val="58B9DA"/>
            </a:solidFill>
            <a:prstDash val="solid"/>
          </a:ln>
        </p:spPr>
      </p:sp>
      <p:sp>
        <p:nvSpPr>
          <p:cNvPr id="7" name="Text 5"/>
          <p:cNvSpPr/>
          <p:nvPr/>
        </p:nvSpPr>
        <p:spPr>
          <a:xfrm>
            <a:off x="457200" y="1188720"/>
            <a:ext cx="365760" cy="365760"/>
          </a:xfrm>
          <a:prstGeom prst="rect">
            <a:avLst/>
          </a:prstGeom>
          <a:noFill/>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987552" y="1115568"/>
            <a:ext cx="6583680" cy="804672"/>
          </a:xfrm>
          <a:prstGeom prst="rect">
            <a:avLst/>
          </a:prstGeom>
          <a:noFill/>
        </p:spPr>
        <p:txBody>
          <a:bodyPr wrap="square" lIns="0" tIns="0" rIns="0" bIns="0" rtlCol="0" anchor="ctr"/>
          <a:lstStyle/>
          <a:p>
            <a:pPr marL="0" indent="0">
              <a:buNone/>
            </a:pPr>
            <a:r>
              <a:rPr lang="en-US" sz="1050" dirty="0">
                <a:solidFill>
                  <a:srgbClr val="A9B8C3"/>
                </a:solidFill>
                <a:latin typeface="Calibri" panose="020F0502020204030204" pitchFamily="34" charset="0"/>
                <a:ea typeface="Calibri" panose="020F0502020204030204" pitchFamily="34" charset="-122"/>
                <a:cs typeface="Calibri" panose="020F0502020204030204" pitchFamily="34" charset="-120"/>
              </a:rPr>
              <a:t>Preprocessing is the dominant factor — Pipeline B outperforms A by 0.378 mean F1 (max gap 0.805 on df1). Feature extraction before scaling transforms the input space; the model never sees noisy correlated raw EEG.</a:t>
            </a:r>
            <a:endParaRPr lang="en-US" sz="1050" dirty="0"/>
          </a:p>
        </p:txBody>
      </p:sp>
      <p:sp>
        <p:nvSpPr>
          <p:cNvPr id="9" name="Shape 7"/>
          <p:cNvSpPr/>
          <p:nvPr/>
        </p:nvSpPr>
        <p:spPr>
          <a:xfrm>
            <a:off x="457200" y="2084832"/>
            <a:ext cx="365760" cy="365760"/>
          </a:xfrm>
          <a:prstGeom prst="ellipse">
            <a:avLst/>
          </a:prstGeom>
          <a:solidFill>
            <a:srgbClr val="8DAC28"/>
          </a:solidFill>
          <a:ln w="12700">
            <a:solidFill>
              <a:srgbClr val="8DAC28"/>
            </a:solidFill>
            <a:prstDash val="solid"/>
          </a:ln>
        </p:spPr>
      </p:sp>
      <p:sp>
        <p:nvSpPr>
          <p:cNvPr id="10" name="Text 8"/>
          <p:cNvSpPr/>
          <p:nvPr/>
        </p:nvSpPr>
        <p:spPr>
          <a:xfrm>
            <a:off x="457200" y="2084832"/>
            <a:ext cx="365760" cy="365760"/>
          </a:xfrm>
          <a:prstGeom prst="rect">
            <a:avLst/>
          </a:prstGeom>
          <a:noFill/>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987552" y="2011680"/>
            <a:ext cx="6583680" cy="804672"/>
          </a:xfrm>
          <a:prstGeom prst="rect">
            <a:avLst/>
          </a:prstGeom>
          <a:noFill/>
        </p:spPr>
        <p:txBody>
          <a:bodyPr wrap="square" lIns="0" tIns="0" rIns="0" bIns="0" rtlCol="0" anchor="ctr"/>
          <a:lstStyle/>
          <a:p>
            <a:pPr marL="0" indent="0">
              <a:buNone/>
            </a:pPr>
            <a:r>
              <a:rPr lang="en-US" sz="1050" dirty="0">
                <a:solidFill>
                  <a:srgbClr val="A9B8C3"/>
                </a:solidFill>
                <a:latin typeface="Calibri" panose="020F0502020204030204" pitchFamily="34" charset="0"/>
                <a:ea typeface="Calibri" panose="020F0502020204030204" pitchFamily="34" charset="-122"/>
                <a:cs typeface="Calibri" panose="020F0502020204030204" pitchFamily="34" charset="-120"/>
              </a:rPr>
              <a:t>L2 regularisation generalises most stably (mean F1=0.463). Dense shrinkage avoids L1's instability on high-dimensional data and Elastic Net's need for tuning.</a:t>
            </a:r>
            <a:endParaRPr lang="en-US" sz="1050" dirty="0"/>
          </a:p>
        </p:txBody>
      </p:sp>
      <p:sp>
        <p:nvSpPr>
          <p:cNvPr id="12" name="Shape 10"/>
          <p:cNvSpPr/>
          <p:nvPr/>
        </p:nvSpPr>
        <p:spPr>
          <a:xfrm>
            <a:off x="457200" y="2980944"/>
            <a:ext cx="365760" cy="365760"/>
          </a:xfrm>
          <a:prstGeom prst="ellipse">
            <a:avLst/>
          </a:prstGeom>
          <a:solidFill>
            <a:srgbClr val="A9B8C3"/>
          </a:solidFill>
          <a:ln w="12700">
            <a:solidFill>
              <a:srgbClr val="A9B8C3"/>
            </a:solidFill>
            <a:prstDash val="solid"/>
          </a:ln>
        </p:spPr>
      </p:sp>
      <p:sp>
        <p:nvSpPr>
          <p:cNvPr id="13" name="Text 11"/>
          <p:cNvSpPr/>
          <p:nvPr/>
        </p:nvSpPr>
        <p:spPr>
          <a:xfrm>
            <a:off x="457200" y="2980944"/>
            <a:ext cx="365760" cy="365760"/>
          </a:xfrm>
          <a:prstGeom prst="rect">
            <a:avLst/>
          </a:prstGeom>
          <a:noFill/>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4" name="Text 12"/>
          <p:cNvSpPr/>
          <p:nvPr/>
        </p:nvSpPr>
        <p:spPr>
          <a:xfrm>
            <a:off x="987552" y="2907792"/>
            <a:ext cx="6583680" cy="804672"/>
          </a:xfrm>
          <a:prstGeom prst="rect">
            <a:avLst/>
          </a:prstGeom>
          <a:noFill/>
        </p:spPr>
        <p:txBody>
          <a:bodyPr wrap="square" lIns="0" tIns="0" rIns="0" bIns="0" rtlCol="0" anchor="ctr"/>
          <a:lstStyle/>
          <a:p>
            <a:pPr marL="0" indent="0">
              <a:buNone/>
            </a:pPr>
            <a:r>
              <a:rPr lang="en-US" sz="1050" dirty="0">
                <a:solidFill>
                  <a:srgbClr val="A9B8C3"/>
                </a:solidFill>
                <a:latin typeface="Calibri" panose="020F0502020204030204" pitchFamily="34" charset="0"/>
                <a:ea typeface="Calibri" panose="020F0502020204030204" pitchFamily="34" charset="-122"/>
                <a:cs typeface="Calibri" panose="020F0502020204030204" pitchFamily="34" charset="-120"/>
              </a:rPr>
              <a:t>Elastic Net wins only 28% of comparisons. Without tuned l1_ratio it collapses toward L1 or L2 — adding complexity without benefit.</a:t>
            </a:r>
            <a:endParaRPr lang="en-US" sz="1050" dirty="0"/>
          </a:p>
        </p:txBody>
      </p:sp>
      <p:sp>
        <p:nvSpPr>
          <p:cNvPr id="15" name="Shape 13"/>
          <p:cNvSpPr/>
          <p:nvPr/>
        </p:nvSpPr>
        <p:spPr>
          <a:xfrm>
            <a:off x="457200" y="3877056"/>
            <a:ext cx="365760" cy="365760"/>
          </a:xfrm>
          <a:prstGeom prst="ellipse">
            <a:avLst/>
          </a:prstGeom>
          <a:solidFill>
            <a:srgbClr val="58B9DA"/>
          </a:solidFill>
          <a:ln w="12700">
            <a:solidFill>
              <a:srgbClr val="58B9DA"/>
            </a:solidFill>
            <a:prstDash val="solid"/>
          </a:ln>
        </p:spPr>
      </p:sp>
      <p:sp>
        <p:nvSpPr>
          <p:cNvPr id="16" name="Text 14"/>
          <p:cNvSpPr/>
          <p:nvPr/>
        </p:nvSpPr>
        <p:spPr>
          <a:xfrm>
            <a:off x="457200" y="3877056"/>
            <a:ext cx="365760" cy="365760"/>
          </a:xfrm>
          <a:prstGeom prst="rect">
            <a:avLst/>
          </a:prstGeom>
          <a:noFill/>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7" name="Text 15"/>
          <p:cNvSpPr/>
          <p:nvPr/>
        </p:nvSpPr>
        <p:spPr>
          <a:xfrm>
            <a:off x="987552" y="3803904"/>
            <a:ext cx="6583680" cy="804672"/>
          </a:xfrm>
          <a:prstGeom prst="rect">
            <a:avLst/>
          </a:prstGeom>
          <a:noFill/>
        </p:spPr>
        <p:txBody>
          <a:bodyPr wrap="square" lIns="0" tIns="0" rIns="0" bIns="0" rtlCol="0" anchor="ctr"/>
          <a:lstStyle/>
          <a:p>
            <a:pPr marL="0" indent="0">
              <a:buNone/>
            </a:pPr>
            <a:r>
              <a:rPr lang="en-US" sz="1050" dirty="0">
                <a:solidFill>
                  <a:srgbClr val="A9B8C3"/>
                </a:solidFill>
                <a:latin typeface="Calibri" panose="020F0502020204030204" pitchFamily="34" charset="0"/>
                <a:ea typeface="Calibri" panose="020F0502020204030204" pitchFamily="34" charset="-122"/>
                <a:cs typeface="Calibri" panose="020F0502020204030204" pitchFamily="34" charset="-120"/>
              </a:rPr>
              <a:t>Imbalance handling must account for direction. SMOTE helps when non-seizure is dominant, hurts when seizure is. L2 is most robust to this reversal.</a:t>
            </a:r>
            <a:endParaRPr lang="en-US" sz="1050" dirty="0"/>
          </a:p>
        </p:txBody>
      </p:sp>
      <p:sp>
        <p:nvSpPr>
          <p:cNvPr id="18" name="Text 16"/>
          <p:cNvSpPr/>
          <p:nvPr/>
        </p:nvSpPr>
        <p:spPr>
          <a:xfrm>
            <a:off x="457200" y="4828032"/>
            <a:ext cx="6400800" cy="256032"/>
          </a:xfrm>
          <a:prstGeom prst="rect">
            <a:avLst/>
          </a:prstGeom>
          <a:noFill/>
        </p:spPr>
        <p:txBody>
          <a:bodyPr wrap="square" lIns="0" tIns="0" rIns="0" bIns="0" rtlCol="0" anchor="ctr"/>
          <a:lstStyle/>
          <a:p>
            <a:pPr marL="0" indent="0">
              <a:buNone/>
            </a:pPr>
            <a:r>
              <a:rPr lang="en-US" sz="900" i="1" dirty="0">
                <a:solidFill>
                  <a:srgbClr val="A9B8C3"/>
                </a:solidFill>
              </a:rPr>
              <a:t>IMSciences  ·  Final Year Project  ·  2026</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295.51,&quot;left&quot;:0,&quot;top&quot;:109.44000000000001,&quot;width&quot;:720.15}"/>
</p:tagLst>
</file>

<file path=ppt/tags/tag2.xml><?xml version="1.0" encoding="utf-8"?>
<p:tagLst xmlns:p="http://schemas.openxmlformats.org/presentationml/2006/main">
  <p:tag name="KSO_WM_DIAGRAM_VIRTUALLY_FRAME" val="{&quot;height&quot;:295.51,&quot;left&quot;:0,&quot;top&quot;:109.44000000000001,&quot;width&quot;:720.15}"/>
</p:tagLst>
</file>

<file path=ppt/tags/tag3.xml><?xml version="1.0" encoding="utf-8"?>
<p:tagLst xmlns:p="http://schemas.openxmlformats.org/presentationml/2006/main">
  <p:tag name="KSO_WM_DIAGRAM_VIRTUALLY_FRAME" val="{&quot;height&quot;:295.51,&quot;left&quot;:0,&quot;top&quot;:109.44000000000001,&quot;width&quot;:720.15}"/>
</p:tagLst>
</file>

<file path=ppt/tags/tag4.xml><?xml version="1.0" encoding="utf-8"?>
<p:tagLst xmlns:p="http://schemas.openxmlformats.org/presentationml/2006/main">
  <p:tag name="KSO_WM_DIAGRAM_VIRTUALLY_FRAME" val="{&quot;height&quot;:295.51,&quot;left&quot;:0,&quot;top&quot;:109.44000000000001,&quot;width&quot;:720.15}"/>
</p:tagLst>
</file>

<file path=ppt/tags/tag5.xml><?xml version="1.0" encoding="utf-8"?>
<p:tagLst xmlns:p="http://schemas.openxmlformats.org/presentationml/2006/main">
  <p:tag name="KSO_WM_DIAGRAM_VIRTUALLY_FRAME" val="{&quot;height&quot;:295.51,&quot;left&quot;:0,&quot;top&quot;:109.44000000000001,&quot;width&quot;:720.15}"/>
</p:tagLst>
</file>

<file path=ppt/tags/tag6.xml><?xml version="1.0" encoding="utf-8"?>
<p:tagLst xmlns:p="http://schemas.openxmlformats.org/presentationml/2006/main">
  <p:tag name="KSO_WM_DIAGRAM_VIRTUALLY_FRAME" val="{&quot;height&quot;:295.51,&quot;left&quot;:0,&quot;top&quot;:109.44000000000001,&quot;width&quot;:720.15}"/>
</p:tagLst>
</file>

<file path=ppt/tags/tag7.xml><?xml version="1.0" encoding="utf-8"?>
<p:tagLst xmlns:p="http://schemas.openxmlformats.org/presentationml/2006/main">
  <p:tag name="KSO_WM_DIAGRAM_VIRTUALLY_FRAME" val="{&quot;height&quot;:295.51,&quot;left&quot;:0,&quot;top&quot;:109.44000000000001,&quot;width&quot;:720.15}"/>
</p:tagLst>
</file>

<file path=ppt/tags/tag8.xml><?xml version="1.0" encoding="utf-8"?>
<p:tagLst xmlns:p="http://schemas.openxmlformats.org/presentationml/2006/main">
  <p:tag name="KSO_WM_DIAGRAM_VIRTUALLY_FRAME" val="{&quot;height&quot;:295.51,&quot;left&quot;:0,&quot;top&quot;:109.44000000000001,&quot;width&quot;:720.15}"/>
</p:tagLst>
</file>

<file path=ppt/tags/tag9.xml><?xml version="1.0" encoding="utf-8"?>
<p:tagLst xmlns:p="http://schemas.openxmlformats.org/presentationml/2006/main">
  <p:tag name="KSO_WM_DIAGRAM_VIRTUALLY_FRAME" val="{&quot;height&quot;:295.51,&quot;left&quot;:0,&quot;top&quot;:109.44000000000001,&quot;width&quot;:720.15}"/>
</p:tagLst>
</file>

<file path=ppt/tags/tag10.xml><?xml version="1.0" encoding="utf-8"?>
<p:tagLst xmlns:p="http://schemas.openxmlformats.org/presentationml/2006/main">
  <p:tag name="KSO_WM_DIAGRAM_VIRTUALLY_FRAME" val="{&quot;height&quot;:295.51,&quot;left&quot;:0,&quot;top&quot;:109.44000000000001,&quot;width&quot;:720.15}"/>
</p:tagLst>
</file>

<file path=ppt/tags/tag11.xml><?xml version="1.0" encoding="utf-8"?>
<p:tagLst xmlns:p="http://schemas.openxmlformats.org/presentationml/2006/main">
  <p:tag name="KSO_WM_DIAGRAM_VIRTUALLY_FRAME" val="{&quot;height&quot;:295.51,&quot;left&quot;:0,&quot;top&quot;:109.44000000000001,&quot;width&quot;:720.15}"/>
</p:tagLst>
</file>

<file path=ppt/tags/tag12.xml><?xml version="1.0" encoding="utf-8"?>
<p:tagLst xmlns:p="http://schemas.openxmlformats.org/presentationml/2006/main">
  <p:tag name="KSO_WM_DIAGRAM_VIRTUALLY_FRAME" val="{&quot;height&quot;:295.51,&quot;left&quot;:0,&quot;top&quot;:109.44000000000001,&quot;width&quot;:720.15}"/>
</p:tagLst>
</file>

<file path=ppt/tags/tag13.xml><?xml version="1.0" encoding="utf-8"?>
<p:tagLst xmlns:p="http://schemas.openxmlformats.org/presentationml/2006/main">
  <p:tag name="KSO_WM_DIAGRAM_VIRTUALLY_FRAME" val="{&quot;height&quot;:295.51,&quot;left&quot;:0,&quot;top&quot;:109.44000000000001,&quot;width&quot;:720.15}"/>
</p:tagLst>
</file>

<file path=ppt/tags/tag14.xml><?xml version="1.0" encoding="utf-8"?>
<p:tagLst xmlns:p="http://schemas.openxmlformats.org/presentationml/2006/main">
  <p:tag name="KSO_WM_DIAGRAM_VIRTUALLY_FRAME" val="{&quot;height&quot;:295.51,&quot;left&quot;:0,&quot;top&quot;:109.44000000000001,&quot;width&quot;:720.15}"/>
</p:tagLst>
</file>

<file path=ppt/tags/tag15.xml><?xml version="1.0" encoding="utf-8"?>
<p:tagLst xmlns:p="http://schemas.openxmlformats.org/presentationml/2006/main">
  <p:tag name="KSO_WM_DIAGRAM_VIRTUALLY_FRAME" val="{&quot;height&quot;:295.51,&quot;left&quot;:0,&quot;top&quot;:109.44000000000001,&quot;width&quot;:720.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12213</Words>
  <Application>WPS Presentation</Application>
  <PresentationFormat>On-screen Show (16:9)</PresentationFormat>
  <Paragraphs>699</Paragraphs>
  <Slides>13</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Seizure Prediction — Expanded Deck</dc:title>
  <dc:creator>PptxGenJS</dc:creator>
  <dc:subject>PptxGenJS Presentation</dc:subject>
  <cp:lastModifiedBy>SAAD</cp:lastModifiedBy>
  <cp:revision>2</cp:revision>
  <dcterms:created xsi:type="dcterms:W3CDTF">2026-05-16T20:37:00Z</dcterms:created>
  <dcterms:modified xsi:type="dcterms:W3CDTF">2026-05-16T21:01:57Z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026F6F61893E4583B47C4BAD7668A225_12</vt:lpwstr>
  </property>
  <property fmtid="{D5CDD505-2E9C-101B-9397-08002B2CF9AE}" pid="3" name="KSOProductBuildVer">
    <vt:lpwstr>2057-12.2.0.23202</vt:lpwstr>
  </property>
</Properties>
</file>